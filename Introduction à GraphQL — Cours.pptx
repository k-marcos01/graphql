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5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4905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Objectif de la séance : personne ne doit ouvrir le sujet de TP sans savoir ce qu'est un schéma, une query, une mutation et un resolver. Annoncer qu'on finit par un quiz.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Prévenir : la partie 4 (limites) compte autant que le reste. On ne vend pas GraphQL, on apprend à le situer.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Insister : GraphQL ne remplace pas REST, il répond à un problème précis. Demander à la classe qui a déjà enchaîné 3 fetch pour afficher une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panneau de gauche montre l'over-fetching : sur sept blocs renvoyés, deux servent à l'affichage. C'est l'argument le plus parlant pour les étudiants.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Trois erreurs classiques à tuer tout de suite : non ce n'est pas une base, non ce n'est pas réservé à JavaScript, non ça ne remplace pas MongoDB.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Dessiner ce graphe au tableau avec eux : c'est exactement le modèle des exercices 1 et 3 du TP.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Faire remarquer la symétrie exacte entre les deux colonnes. C'est ce qui rend le débogage agréable : on sait toujours ce qu'on va recevoir.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schéma est le premier fichier qu'on écrit et le dernier qu'on modifie. Rappeler que le TP demande exactement ce type Product.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notation [Product!]! est le point qui bloque le plus. Prendre trente secondes pour la lire à voix haute de l'intérieur vers l'extérieur.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Montrer en direct dans Apollo Sandbox si possible. Sinon, insister sur le fait qu'on peut cumuler products et product dans une seule requête.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panneau Variables d'Apollo Sandbox est en bas à gauche. Beaucoup d'étudiants ne le voient pas et écrivent tout en dur.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réflexe à donner : toujours demander l'id dans le retour d'une création, sinon il faut refaire une requête.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question de réflexion de l'exercice 2 porte exactement là-dessus : ne pas donner la réponse complète maintenant.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quatrième argument info sert rarement en TP : le mentionner puis passer. Insister sur parent, qui est la clé de la slide suivante.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C'est la slide à commenter lentement. Le fait que rien ne s'exécute pour un champ non demandé est la contrepartie directe du gain de performance.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C'est la confusion numéro un chez les étudiants : croire que le type GraphQL et le modèle Mongoose doivent être identiques.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Demander : où regarderiez-vous en premier si le front affiche une page vide ? Réponse attendue : dans errors, pas dans le code HTTP.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 pas s'attarder : chaque carte tient en une phrase. Le vrai contenu de la séance est la slide suivante.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message : GraphQL déplace la complexité du client vers le serveur. Ce n'est pas gratuit, c'est un arbitrage.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Leur faire compter eux-mêmes avec le console.log. La prise de conscience vaut mieux que l'explication.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Conclure la partie 4 ici : la bonne réponse en entretien n'est jamais « GraphQL, c'est mieux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le vidéoprojecteur le permet, faire la démonstration en direct plutôt que de commenter la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Laisser trente secondes par question avant de faire apparaitre la réponse avec la touche flèche droite.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Laisser trente secondes par question avant de faire apparaitre la réponse avec la touche flèche droite.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Laisser trente secondes par question avant de faire apparaitre la réponse avec la touche flèche droite.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Laisser trente secondes par question avant de faire apparaitre la réponse avec la touche flèche droite.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Rappeler que l'exercice 5 se choisit selon l'avancement : la partie A est obligatoire, B et C au choix.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Terminer là-dessus. Le sujet du TP est distribué en parallèle de ces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0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gradFill rotWithShape="1">
            <a:gsLst>
              <a:gs pos="0">
                <a:srgbClr val="E10098"/>
              </a:gs>
              <a:gs pos="55000">
                <a:srgbClr val="7B2FF7"/>
              </a:gs>
              <a:gs pos="100000">
                <a:srgbClr val="1C6E8C"/>
              </a:gs>
            </a:gsLst>
            <a:lin ang="0" scaled="0"/>
          </a:gradFill>
          <a:ln/>
        </p:spPr>
        <p:txBody>
          <a:bodyPr/>
          <a:lstStyle/>
          <a:p>
            <a:endParaRPr lang="en-GB"/>
          </a:p>
        </p:txBody>
      </p:sp>
      <p:sp>
        <p:nvSpPr>
          <p:cNvPr id="3" name="Text 1"/>
          <p:cNvSpPr/>
          <p:nvPr/>
        </p:nvSpPr>
        <p:spPr>
          <a:xfrm>
            <a:off x="812800" y="2634126"/>
            <a:ext cx="10883392" cy="8887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798"/>
              </a:lnSpc>
              <a:buNone/>
            </a:pPr>
            <a:r>
              <a:rPr lang="en-US" sz="6600" b="1" dirty="0">
                <a:solidFill>
                  <a:srgbClr val="F2F5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Introduction à GraphQL</a:t>
            </a:r>
            <a:endParaRPr lang="en-US" sz="6600" dirty="0"/>
          </a:p>
        </p:txBody>
      </p:sp>
      <p:sp>
        <p:nvSpPr>
          <p:cNvPr id="4" name="Text 2"/>
          <p:cNvSpPr/>
          <p:nvPr/>
        </p:nvSpPr>
        <p:spPr>
          <a:xfrm>
            <a:off x="812800" y="3726061"/>
            <a:ext cx="9156700" cy="751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200" dirty="0">
                <a:solidFill>
                  <a:srgbClr val="9FB2C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Les bases nécessaires pour attaquer le TP : construire l'API d'un site marchand avec Apollo Server et MongoDB.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A6B7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Plan de la séance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12800" y="812800"/>
            <a:ext cx="10883392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00" dirty="0">
                <a:solidFill>
                  <a:srgbClr val="E1009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 PROGRAMME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12800" y="4416822"/>
            <a:ext cx="10883392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75"/>
              </a:lnSpc>
              <a:buNone/>
            </a:pPr>
            <a:r>
              <a:rPr lang="en-US" sz="1500" dirty="0">
                <a:solidFill>
                  <a:srgbClr val="16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À la fin, vous saurez lire un schéma GraphQL, écrire une requête, et expliquer pourquoi votre API renvoie parfois 200 avec une erreur dedans.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5434" y="2717734"/>
            <a:ext cx="2501900" cy="1422400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6350">
            <a:solidFill>
              <a:srgbClr val="E2E7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1004292" y="2883892"/>
            <a:ext cx="2208509" cy="292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1009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04292" y="3214026"/>
            <a:ext cx="2208509" cy="261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550" b="1" dirty="0">
                <a:solidFill>
                  <a:srgbClr val="16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 problème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004292" y="3513667"/>
            <a:ext cx="2208509" cy="485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7"/>
              </a:lnSpc>
              <a:buNone/>
            </a:pPr>
            <a:r>
              <a:rPr lang="en-US" sz="1246" dirty="0">
                <a:solidFill>
                  <a:srgbClr val="5A6B7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Ce que REST fait bien, et ce qu'il fait mal</a:t>
            </a:r>
            <a:endParaRPr lang="en-US" sz="1246" dirty="0"/>
          </a:p>
        </p:txBody>
      </p:sp>
      <p:sp>
        <p:nvSpPr>
          <p:cNvPr id="9" name="Shape 7"/>
          <p:cNvSpPr/>
          <p:nvPr/>
        </p:nvSpPr>
        <p:spPr>
          <a:xfrm>
            <a:off x="3511484" y="2717734"/>
            <a:ext cx="2501900" cy="1422400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6350">
            <a:solidFill>
              <a:srgbClr val="E2E7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3690342" y="2883892"/>
            <a:ext cx="2208509" cy="292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1009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690342" y="3214026"/>
            <a:ext cx="2208509" cy="261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550" b="1" dirty="0">
                <a:solidFill>
                  <a:srgbClr val="16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Les briques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3690342" y="3513667"/>
            <a:ext cx="2208509" cy="485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7"/>
              </a:lnSpc>
              <a:buNone/>
            </a:pPr>
            <a:r>
              <a:rPr lang="en-US" sz="1246" dirty="0">
                <a:solidFill>
                  <a:srgbClr val="5A6B7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Schéma, types, queries, mutations, resolvers</a:t>
            </a:r>
            <a:endParaRPr lang="en-US" sz="1246" dirty="0"/>
          </a:p>
        </p:txBody>
      </p:sp>
      <p:sp>
        <p:nvSpPr>
          <p:cNvPr id="13" name="Shape 11"/>
          <p:cNvSpPr/>
          <p:nvPr/>
        </p:nvSpPr>
        <p:spPr>
          <a:xfrm>
            <a:off x="6197534" y="2717800"/>
            <a:ext cx="2501900" cy="1422400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6350">
            <a:solidFill>
              <a:srgbClr val="E2E7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6376392" y="2883959"/>
            <a:ext cx="2208509" cy="292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1009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76392" y="3214092"/>
            <a:ext cx="2208509" cy="261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550" b="1" dirty="0">
                <a:solidFill>
                  <a:srgbClr val="16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 serveur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6376392" y="3513733"/>
            <a:ext cx="2208509" cy="485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7"/>
              </a:lnSpc>
              <a:buNone/>
            </a:pPr>
            <a:r>
              <a:rPr lang="en-US" sz="1246" dirty="0">
                <a:solidFill>
                  <a:srgbClr val="5A6B7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Apollo Server, Mongoose et le chemin d'une requête</a:t>
            </a:r>
            <a:endParaRPr lang="en-US" sz="1246" dirty="0"/>
          </a:p>
        </p:txBody>
      </p:sp>
      <p:sp>
        <p:nvSpPr>
          <p:cNvPr id="17" name="Shape 15"/>
          <p:cNvSpPr/>
          <p:nvPr/>
        </p:nvSpPr>
        <p:spPr>
          <a:xfrm>
            <a:off x="8883584" y="2717734"/>
            <a:ext cx="2501900" cy="1422400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6350">
            <a:solidFill>
              <a:srgbClr val="E2E7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9062442" y="2883892"/>
            <a:ext cx="2208509" cy="292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1009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062442" y="3214026"/>
            <a:ext cx="2208509" cy="2615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550" b="1" dirty="0">
                <a:solidFill>
                  <a:srgbClr val="16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 recul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9062442" y="3513667"/>
            <a:ext cx="2208509" cy="4857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7"/>
              </a:lnSpc>
              <a:buNone/>
            </a:pPr>
            <a:r>
              <a:rPr lang="en-US" sz="1246" dirty="0">
                <a:solidFill>
                  <a:srgbClr val="5A6B7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Avantages, limites, et quand ne pas choisir GraphQL</a:t>
            </a:r>
            <a:endParaRPr lang="en-US" sz="1246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00" dirty="0">
                <a:solidFill>
                  <a:srgbClr val="E1009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01 · LE PROBLÈME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800" y="1297915"/>
            <a:ext cx="10883392" cy="500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40"/>
              </a:lnSpc>
              <a:buNone/>
            </a:pPr>
            <a:r>
              <a:rPr lang="en-US" sz="3400" b="1" dirty="0">
                <a:solidFill>
                  <a:srgbClr val="16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Rappel : une API REST, c'est une liste d'URL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15975" y="2030016"/>
            <a:ext cx="5175250" cy="1834092"/>
          </a:xfrm>
          <a:prstGeom prst="roundRect">
            <a:avLst>
              <a:gd name="adj" fmla="val 4674"/>
            </a:avLst>
          </a:prstGeom>
          <a:solidFill>
            <a:srgbClr val="F2F4F7"/>
          </a:solidFill>
          <a:ln w="6350">
            <a:solidFill>
              <a:srgbClr val="E2E7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1020233" y="2208874"/>
            <a:ext cx="4909735" cy="1501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25"/>
              </a:lnSpc>
              <a:buNone/>
            </a:pPr>
            <a:r>
              <a:rPr lang="en-US" sz="1500" dirty="0">
                <a:solidFill>
                  <a:srgbClr val="1620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GET  /api/products</a:t>
            </a:r>
            <a:endParaRPr lang="en-US" sz="1500" dirty="0"/>
          </a:p>
          <a:p>
            <a:pPr marL="0" indent="0" algn="l">
              <a:lnSpc>
                <a:spcPts val="2325"/>
              </a:lnSpc>
              <a:buNone/>
            </a:pPr>
            <a:r>
              <a:rPr lang="en-US" sz="1500" dirty="0">
                <a:solidFill>
                  <a:srgbClr val="1620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GET  /api/products/42</a:t>
            </a:r>
            <a:endParaRPr lang="en-US" sz="1500" dirty="0"/>
          </a:p>
          <a:p>
            <a:pPr marL="0" indent="0" algn="l">
              <a:lnSpc>
                <a:spcPts val="2325"/>
              </a:lnSpc>
              <a:buNone/>
            </a:pPr>
            <a:r>
              <a:rPr lang="en-US" sz="1500" dirty="0">
                <a:solidFill>
                  <a:srgbClr val="1620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POST /api/products</a:t>
            </a:r>
            <a:endParaRPr lang="en-US" sz="1500" dirty="0"/>
          </a:p>
          <a:p>
            <a:pPr marL="0" indent="0" algn="l">
              <a:lnSpc>
                <a:spcPts val="2325"/>
              </a:lnSpc>
              <a:buNone/>
            </a:pPr>
            <a:r>
              <a:rPr lang="en-US" sz="1500" dirty="0">
                <a:solidFill>
                  <a:srgbClr val="1620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GET  /api/customers/7</a:t>
            </a:r>
            <a:endParaRPr lang="en-US" sz="1500" dirty="0"/>
          </a:p>
          <a:p>
            <a:pPr marL="0" indent="0" algn="l">
              <a:lnSpc>
                <a:spcPts val="2325"/>
              </a:lnSpc>
              <a:buNone/>
            </a:pPr>
            <a:r>
              <a:rPr lang="en-US" sz="1500" dirty="0">
                <a:solidFill>
                  <a:srgbClr val="1620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GET  /api/customers/7/orders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12800" y="3981583"/>
            <a:ext cx="5337048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75"/>
              </a:lnSpc>
              <a:buNone/>
            </a:pPr>
            <a:r>
              <a:rPr lang="en-US" sz="1500" dirty="0">
                <a:solidFill>
                  <a:srgbClr val="16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Une ressource = une URL. Le serveur décide du contenu de la réponse ; le client prend ce qu'on lui donne.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00775" y="2030016"/>
            <a:ext cx="5175250" cy="1156494"/>
          </a:xfrm>
          <a:prstGeom prst="roundRect">
            <a:avLst>
              <a:gd name="adj" fmla="val 9609"/>
            </a:avLst>
          </a:prstGeom>
          <a:solidFill>
            <a:srgbClr val="FFFFFF"/>
          </a:solidFill>
          <a:ln w="6350">
            <a:solidFill>
              <a:srgbClr val="E2E7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6392333" y="2208874"/>
            <a:ext cx="4935897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6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Ce que REST fait très bien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92333" y="2528888"/>
            <a:ext cx="4935897" cy="5041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5A6B7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Simple à comprendre, cacheable par le navigateur et les CDN, outillage universel, codes HTTP explicites.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00775" y="3307159"/>
            <a:ext cx="5175250" cy="1395876"/>
          </a:xfrm>
          <a:prstGeom prst="roundRect">
            <a:avLst>
              <a:gd name="adj" fmla="val 7961"/>
            </a:avLst>
          </a:prstGeom>
          <a:solidFill>
            <a:srgbClr val="FFFFFF"/>
          </a:solidFill>
          <a:ln w="6350">
            <a:solidFill>
              <a:srgbClr val="E2E7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6392333" y="3486018"/>
            <a:ext cx="4935897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6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Là où ça se complique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92333" y="3806031"/>
            <a:ext cx="4935897" cy="7435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5A6B7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Dès que l'écran affiche des données venant de plusieurs ressources liées, le client doit orchestrer lui-même plusieurs appels.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A6B7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01 · Le problème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00" dirty="0">
                <a:solidFill>
                  <a:srgbClr val="E1009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01 · LE PROBLÈME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800" y="1221715"/>
            <a:ext cx="10883392" cy="500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40"/>
              </a:lnSpc>
              <a:buNone/>
            </a:pPr>
            <a:r>
              <a:rPr lang="en-US" sz="3400" b="1" dirty="0">
                <a:solidFill>
                  <a:srgbClr val="16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Trois douleurs récurrentes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15975" y="2441575"/>
            <a:ext cx="5010150" cy="3488862"/>
          </a:xfrm>
          <a:prstGeom prst="roundRect">
            <a:avLst>
              <a:gd name="adj" fmla="val 3185"/>
            </a:avLst>
          </a:prstGeom>
          <a:solidFill>
            <a:srgbClr val="1F2D3F"/>
          </a:solidFill>
          <a:ln w="6350">
            <a:solidFill>
              <a:srgbClr val="3347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1007533" y="2607734"/>
            <a:ext cx="476584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 dirty="0">
                <a:solidFill>
                  <a:srgbClr val="9FB2C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RÉPONSE REST D'UN PRODUIT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7533" y="2909954"/>
            <a:ext cx="4765844" cy="739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F2F5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</a:t>
            </a:r>
            <a:endParaRPr lang="en-US" sz="1250" dirty="0"/>
          </a:p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FFD1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"name": "Clavier mécanique",</a:t>
            </a:r>
            <a:endParaRPr lang="en-US" sz="1250" dirty="0"/>
          </a:p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FFD1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"price": 89.9,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1007533" y="3713229"/>
            <a:ext cx="4765844" cy="12160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strike="sngStrike" dirty="0">
                <a:solidFill>
                  <a:srgbClr val="6C80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"description": "… 420 caractères …",</a:t>
            </a:r>
            <a:endParaRPr lang="en-US" sz="1250" dirty="0"/>
          </a:p>
          <a:p>
            <a:pPr marL="0" indent="0" algn="l">
              <a:lnSpc>
                <a:spcPts val="1875"/>
              </a:lnSpc>
              <a:buNone/>
            </a:pPr>
            <a:r>
              <a:rPr lang="en-US" sz="1250" strike="sngStrike" dirty="0">
                <a:solidFill>
                  <a:srgbClr val="6C80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"sku": "KB-0042-AZ",</a:t>
            </a:r>
            <a:endParaRPr lang="en-US" sz="1250" dirty="0"/>
          </a:p>
          <a:p>
            <a:pPr marL="0" indent="0" algn="l">
              <a:lnSpc>
                <a:spcPts val="1875"/>
              </a:lnSpc>
              <a:buNone/>
            </a:pPr>
            <a:r>
              <a:rPr lang="en-US" sz="1250" strike="sngStrike" dirty="0">
                <a:solidFill>
                  <a:srgbClr val="6C80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"weightGrams": 980,</a:t>
            </a:r>
            <a:endParaRPr lang="en-US" sz="1250" dirty="0"/>
          </a:p>
          <a:p>
            <a:pPr marL="0" indent="0" algn="l">
              <a:lnSpc>
                <a:spcPts val="1875"/>
              </a:lnSpc>
              <a:buNone/>
            </a:pPr>
            <a:r>
              <a:rPr lang="en-US" sz="1250" strike="sngStrike" dirty="0">
                <a:solidFill>
                  <a:srgbClr val="6C80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"supplier": { … 12 champs … },</a:t>
            </a:r>
            <a:endParaRPr lang="en-US" sz="1250" dirty="0"/>
          </a:p>
          <a:p>
            <a:pPr marL="0" indent="0" algn="l">
              <a:lnSpc>
                <a:spcPts val="1875"/>
              </a:lnSpc>
              <a:buNone/>
            </a:pPr>
            <a:r>
              <a:rPr lang="en-US" sz="1250" strike="sngStrike" dirty="0">
                <a:solidFill>
                  <a:srgbClr val="6C8099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"warehouseSlots": [ … 30 entrées … ]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007533" y="4992754"/>
            <a:ext cx="4765844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250" dirty="0">
                <a:solidFill>
                  <a:srgbClr val="F2F5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07533" y="5319779"/>
            <a:ext cx="4765844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9FB2C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 rose, les deux champs que l'écran affiche. Barré, tout ce qui a voyagé pour rien.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37275" y="2441575"/>
            <a:ext cx="5238750" cy="829204"/>
          </a:xfrm>
          <a:prstGeom prst="roundRect">
            <a:avLst>
              <a:gd name="adj" fmla="val 11870"/>
            </a:avLst>
          </a:prstGeom>
          <a:solidFill>
            <a:srgbClr val="FFFFFF"/>
          </a:solidFill>
          <a:ln w="6350">
            <a:solidFill>
              <a:srgbClr val="E2E7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6316133" y="2595034"/>
            <a:ext cx="502746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6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Over-fetching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316133" y="2887134"/>
            <a:ext cx="5027464" cy="255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13"/>
              </a:lnSpc>
              <a:buNone/>
            </a:pPr>
            <a:r>
              <a:rPr lang="en-US" sz="1250" dirty="0">
                <a:solidFill>
                  <a:srgbClr val="5A6B7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télécharge 40 champs pour en afficher 2. Coûteux sur mobile.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37275" y="3378730"/>
            <a:ext cx="5238750" cy="1059392"/>
          </a:xfrm>
          <a:prstGeom prst="roundRect">
            <a:avLst>
              <a:gd name="adj" fmla="val 9291"/>
            </a:avLst>
          </a:prstGeom>
          <a:solidFill>
            <a:srgbClr val="FFFFFF"/>
          </a:solidFill>
          <a:ln w="6350">
            <a:solidFill>
              <a:srgbClr val="E2E7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6316133" y="3532188"/>
            <a:ext cx="502746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6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Under-fetching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16133" y="3824288"/>
            <a:ext cx="5027464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13"/>
              </a:lnSpc>
              <a:buNone/>
            </a:pPr>
            <a:r>
              <a:rPr lang="en-US" sz="1250" dirty="0">
                <a:solidFill>
                  <a:srgbClr val="5A6B7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Il manque toujours quelque chose : un deuxième, puis un troisième appel.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137275" y="4546071"/>
            <a:ext cx="5238750" cy="829204"/>
          </a:xfrm>
          <a:prstGeom prst="roundRect">
            <a:avLst>
              <a:gd name="adj" fmla="val 11870"/>
            </a:avLst>
          </a:prstGeom>
          <a:solidFill>
            <a:srgbClr val="FFFFFF"/>
          </a:solidFill>
          <a:ln w="6350">
            <a:solidFill>
              <a:srgbClr val="E2E7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6316133" y="4699530"/>
            <a:ext cx="502746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6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Versionnement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16133" y="4991630"/>
            <a:ext cx="5027464" cy="255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13"/>
              </a:lnSpc>
              <a:buNone/>
            </a:pPr>
            <a:r>
              <a:rPr lang="en-US" sz="1250" dirty="0">
                <a:solidFill>
                  <a:srgbClr val="5A6B7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Modifier une réponse casse des clients : on crée /v2, puis /v3.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A6B7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01 · Le problème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20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585317"/>
            <a:ext cx="10883392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00" dirty="0">
                <a:solidFill>
                  <a:srgbClr val="E1009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02 · LES BRIQUES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800" y="2095832"/>
            <a:ext cx="10464800" cy="1821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715"/>
              </a:lnSpc>
              <a:buNone/>
            </a:pPr>
            <a:r>
              <a:rPr lang="en-US" sz="4100" b="1" dirty="0">
                <a:solidFill>
                  <a:srgbClr val="F2F5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GraphQL est un </a:t>
            </a:r>
            <a:r>
              <a:rPr lang="en-US" sz="4100" b="1" dirty="0">
                <a:solidFill>
                  <a:srgbClr val="E1009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langage de requête</a:t>
            </a:r>
            <a:r>
              <a:rPr lang="en-US" sz="4100" b="1" dirty="0">
                <a:solidFill>
                  <a:srgbClr val="F2F5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pour les API, et un moteur qui exécute ces requêtes contre vos données.</a:t>
            </a:r>
            <a:endParaRPr lang="en-US" sz="4100" dirty="0"/>
          </a:p>
        </p:txBody>
      </p:sp>
      <p:sp>
        <p:nvSpPr>
          <p:cNvPr id="4" name="Shape 2"/>
          <p:cNvSpPr/>
          <p:nvPr/>
        </p:nvSpPr>
        <p:spPr>
          <a:xfrm>
            <a:off x="815975" y="4174663"/>
            <a:ext cx="3414183" cy="891646"/>
          </a:xfrm>
          <a:prstGeom prst="roundRect">
            <a:avLst>
              <a:gd name="adj" fmla="val 11039"/>
            </a:avLst>
          </a:prstGeom>
          <a:solidFill>
            <a:srgbClr val="1F2D3F"/>
          </a:solidFill>
          <a:ln w="6350">
            <a:solidFill>
              <a:srgbClr val="3347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994833" y="4353521"/>
            <a:ext cx="3148161" cy="5593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3"/>
              </a:lnSpc>
              <a:buNone/>
            </a:pPr>
            <a:r>
              <a:rPr lang="en-US" sz="1450" dirty="0">
                <a:solidFill>
                  <a:srgbClr val="9FB2C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Ce n'est pas une base de données.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388908" y="4174663"/>
            <a:ext cx="3414183" cy="891646"/>
          </a:xfrm>
          <a:prstGeom prst="roundRect">
            <a:avLst>
              <a:gd name="adj" fmla="val 11039"/>
            </a:avLst>
          </a:prstGeom>
          <a:solidFill>
            <a:srgbClr val="1F2D3F"/>
          </a:solidFill>
          <a:ln w="6350">
            <a:solidFill>
              <a:srgbClr val="3347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4567767" y="4353521"/>
            <a:ext cx="3148161" cy="5593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3"/>
              </a:lnSpc>
              <a:buNone/>
            </a:pPr>
            <a:r>
              <a:rPr lang="en-US" sz="1450" dirty="0">
                <a:solidFill>
                  <a:srgbClr val="9FB2C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Ce n'est pas lié à un langage : c'est une spécification.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7961842" y="4174663"/>
            <a:ext cx="3414183" cy="891646"/>
          </a:xfrm>
          <a:prstGeom prst="roundRect">
            <a:avLst>
              <a:gd name="adj" fmla="val 11039"/>
            </a:avLst>
          </a:prstGeom>
          <a:solidFill>
            <a:srgbClr val="1F2D3F"/>
          </a:solidFill>
          <a:ln w="6350">
            <a:solidFill>
              <a:srgbClr val="3347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8140700" y="4353521"/>
            <a:ext cx="3148161" cy="5593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3"/>
              </a:lnSpc>
              <a:buNone/>
            </a:pPr>
            <a:r>
              <a:rPr lang="en-US" sz="1450" dirty="0">
                <a:solidFill>
                  <a:srgbClr val="9FB2C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C'est une couche posée devant vos sources de données.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FB2C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Spécification créée chez Facebook en 2012, ouverte en 2015, aujourd'hui gérée par la GraphQL Foundation.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00" dirty="0">
                <a:solidFill>
                  <a:srgbClr val="E1009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02 · LES BRIQUES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800" y="1297915"/>
            <a:ext cx="10883392" cy="500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40"/>
              </a:lnSpc>
              <a:buNone/>
            </a:pPr>
            <a:r>
              <a:rPr lang="en-US" sz="3400" b="1" dirty="0">
                <a:solidFill>
                  <a:srgbClr val="16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 seul point d'entrée, un graphe de types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12800" y="2026841"/>
            <a:ext cx="5310886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75"/>
              </a:lnSpc>
              <a:buNone/>
            </a:pPr>
            <a:r>
              <a:rPr lang="en-US" sz="1500" dirty="0">
                <a:solidFill>
                  <a:srgbClr val="16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Toutes les requêtes partent au même endroit, en POST 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15975" y="2407841"/>
            <a:ext cx="5149850" cy="672637"/>
          </a:xfrm>
          <a:prstGeom prst="roundRect">
            <a:avLst>
              <a:gd name="adj" fmla="val 12745"/>
            </a:avLst>
          </a:prstGeom>
          <a:solidFill>
            <a:srgbClr val="F2F4F7"/>
          </a:solidFill>
          <a:ln w="6350">
            <a:solidFill>
              <a:srgbClr val="E2E7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1020233" y="2586699"/>
            <a:ext cx="4883573" cy="340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80"/>
              </a:lnSpc>
              <a:buNone/>
            </a:pPr>
            <a:r>
              <a:rPr lang="en-US" sz="1600" dirty="0">
                <a:solidFill>
                  <a:srgbClr val="1620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POST /graphql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12800" y="3185254"/>
            <a:ext cx="5310886" cy="798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dirty="0">
                <a:solidFill>
                  <a:srgbClr val="5A6B7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 corps de la requête décrit ce que vous voulez. Le serveur ne devine plus : il obéit à la demande, dans la limite de ce que le schéma autorise.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2800" y="4060165"/>
            <a:ext cx="5310886" cy="798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dirty="0">
                <a:solidFill>
                  <a:srgbClr val="5A6B7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Les types sont reliés entre eux : d'un client on atteint ses commandes, d'une commande ses produits. C'est ce maillage qu'on appelle le graphe.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26175" y="2030016"/>
            <a:ext cx="5149850" cy="3549650"/>
          </a:xfrm>
          <a:prstGeom prst="roundRect">
            <a:avLst>
              <a:gd name="adj" fmla="val 3131"/>
            </a:avLst>
          </a:prstGeom>
          <a:solidFill>
            <a:srgbClr val="FFFFFF"/>
          </a:solidFill>
          <a:ln w="6350">
            <a:solidFill>
              <a:srgbClr val="E2E7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6413500" y="2191941"/>
            <a:ext cx="152697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5A6B7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 GRAPHE DU TP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610350" y="2731691"/>
            <a:ext cx="1638300" cy="508000"/>
          </a:xfrm>
          <a:prstGeom prst="roundRect">
            <a:avLst>
              <a:gd name="adj" fmla="val 13750"/>
            </a:avLst>
          </a:prstGeom>
          <a:solidFill>
            <a:srgbClr val="FDE7F5"/>
          </a:solidFill>
          <a:ln w="12700">
            <a:solidFill>
              <a:srgbClr val="E1009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6718300" y="2852341"/>
            <a:ext cx="14224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6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Customer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610350" y="3811191"/>
            <a:ext cx="1638300" cy="508000"/>
          </a:xfrm>
          <a:prstGeom prst="roundRect">
            <a:avLst>
              <a:gd name="adj" fmla="val 13750"/>
            </a:avLst>
          </a:prstGeom>
          <a:solidFill>
            <a:srgbClr val="E4F0F5"/>
          </a:solidFill>
          <a:ln w="12700">
            <a:solidFill>
              <a:srgbClr val="1C6E8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6718300" y="3931841"/>
            <a:ext cx="14224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6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Order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023350" y="3811191"/>
            <a:ext cx="1638300" cy="508000"/>
          </a:xfrm>
          <a:prstGeom prst="roundRect">
            <a:avLst>
              <a:gd name="adj" fmla="val 13750"/>
            </a:avLst>
          </a:prstGeom>
          <a:solidFill>
            <a:srgbClr val="E4F0F5"/>
          </a:solidFill>
          <a:ln w="12700">
            <a:solidFill>
              <a:srgbClr val="1C6E8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9131300" y="3931841"/>
            <a:ext cx="14224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6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OrderItem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9023350" y="4890691"/>
            <a:ext cx="1638300" cy="508000"/>
          </a:xfrm>
          <a:prstGeom prst="roundRect">
            <a:avLst>
              <a:gd name="adj" fmla="val 13750"/>
            </a:avLst>
          </a:prstGeom>
          <a:solidFill>
            <a:srgbClr val="FDE7F5"/>
          </a:solidFill>
          <a:ln w="12700">
            <a:solidFill>
              <a:srgbClr val="E1009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6"/>
          <p:cNvSpPr/>
          <p:nvPr/>
        </p:nvSpPr>
        <p:spPr>
          <a:xfrm>
            <a:off x="9131300" y="5011341"/>
            <a:ext cx="14224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6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Product</a:t>
            </a:r>
            <a:endParaRPr lang="en-US" sz="1500" dirty="0"/>
          </a:p>
        </p:txBody>
      </p:sp>
      <p:pic>
        <p:nvPicPr>
          <p:cNvPr id="19" name="Image 0" descr="connector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378700" y="3131741"/>
            <a:ext cx="101600" cy="698500"/>
          </a:xfrm>
          <a:prstGeom prst="rect">
            <a:avLst/>
          </a:prstGeom>
        </p:spPr>
      </p:pic>
      <p:pic>
        <p:nvPicPr>
          <p:cNvPr id="20" name="Image 1" descr="connector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229600" y="3995341"/>
            <a:ext cx="812800" cy="101600"/>
          </a:xfrm>
          <a:prstGeom prst="rect">
            <a:avLst/>
          </a:prstGeom>
        </p:spPr>
      </p:pic>
      <p:pic>
        <p:nvPicPr>
          <p:cNvPr id="21" name="Image 2" descr="connector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791700" y="4211241"/>
            <a:ext cx="101600" cy="69850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7493000" y="3271441"/>
            <a:ext cx="15113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A6B7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des commandes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8318500" y="3500041"/>
            <a:ext cx="1447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A6B7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contient des lignes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9906000" y="4363641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A6B7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pointe un produit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A6B7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02 · Les briques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00" dirty="0">
                <a:solidFill>
                  <a:srgbClr val="E1009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02 · LES BRIQUES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800" y="1209015"/>
            <a:ext cx="10883392" cy="500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40"/>
              </a:lnSpc>
              <a:buNone/>
            </a:pPr>
            <a:r>
              <a:rPr lang="en-US" sz="3400" b="1" dirty="0">
                <a:solidFill>
                  <a:srgbClr val="16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 réponse a la forme de la question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12800" y="1849041"/>
            <a:ext cx="10883392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75"/>
              </a:lnSpc>
              <a:buNone/>
            </a:pPr>
            <a:r>
              <a:rPr lang="en-US" sz="1500" dirty="0">
                <a:solidFill>
                  <a:srgbClr val="16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Pas un champ de plus, pas un champ de moins. C'est la propriété la plus utile de GraphQL au quotidien.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15975" y="2293541"/>
            <a:ext cx="4883150" cy="2615737"/>
          </a:xfrm>
          <a:prstGeom prst="roundRect">
            <a:avLst>
              <a:gd name="adj" fmla="val 4248"/>
            </a:avLst>
          </a:prstGeom>
          <a:solidFill>
            <a:srgbClr val="1F2D3F"/>
          </a:solidFill>
          <a:ln w="6350">
            <a:solidFill>
              <a:srgbClr val="3347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1007533" y="2459701"/>
            <a:ext cx="463503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 dirty="0">
                <a:solidFill>
                  <a:srgbClr val="9FB2C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CE QUE VOUS DEMANDEZ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7533" y="2761921"/>
            <a:ext cx="4635034" cy="1511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F2F5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</a:t>
            </a:r>
            <a:endParaRPr lang="en-US" sz="130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F2F5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product(id: "42") {</a:t>
            </a:r>
            <a:endParaRPr lang="en-US" sz="130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F2F5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</a:t>
            </a:r>
            <a:r>
              <a:rPr lang="en-US" sz="1300" dirty="0">
                <a:solidFill>
                  <a:srgbClr val="FFD1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name</a:t>
            </a:r>
            <a:endParaRPr lang="en-US" sz="130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F2F5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</a:t>
            </a:r>
            <a:r>
              <a:rPr lang="en-US" sz="1300" dirty="0">
                <a:solidFill>
                  <a:srgbClr val="FFD1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price</a:t>
            </a:r>
            <a:endParaRPr lang="en-US" sz="130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F2F5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}</a:t>
            </a:r>
            <a:endParaRPr lang="en-US" sz="130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F2F5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300" dirty="0"/>
          </a:p>
        </p:txBody>
      </p:sp>
      <p:pic>
        <p:nvPicPr>
          <p:cNvPr id="8" name="Image 0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867400" y="3487077"/>
            <a:ext cx="457200" cy="2286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492875" y="2293541"/>
            <a:ext cx="4883150" cy="2615737"/>
          </a:xfrm>
          <a:prstGeom prst="roundRect">
            <a:avLst>
              <a:gd name="adj" fmla="val 4248"/>
            </a:avLst>
          </a:prstGeom>
          <a:solidFill>
            <a:srgbClr val="1F2D3F"/>
          </a:solidFill>
          <a:ln w="6350">
            <a:solidFill>
              <a:srgbClr val="3347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6684434" y="2459701"/>
            <a:ext cx="463503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 dirty="0">
                <a:solidFill>
                  <a:srgbClr val="9FB2C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CE QUE VOUS RECEVEZ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684434" y="2761921"/>
            <a:ext cx="4635034" cy="200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F2F5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</a:t>
            </a:r>
            <a:endParaRPr lang="en-US" sz="130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F2F5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"data": {</a:t>
            </a:r>
            <a:endParaRPr lang="en-US" sz="130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F2F5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"product": {</a:t>
            </a:r>
            <a:endParaRPr lang="en-US" sz="130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F2F5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</a:t>
            </a:r>
            <a:r>
              <a:rPr lang="en-US" sz="1300" dirty="0">
                <a:solidFill>
                  <a:srgbClr val="FFD1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"name"</a:t>
            </a:r>
            <a:r>
              <a:rPr lang="en-US" sz="1300" dirty="0">
                <a:solidFill>
                  <a:srgbClr val="F2F5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 </a:t>
            </a:r>
            <a:r>
              <a:rPr lang="en-US" sz="1300" dirty="0">
                <a:solidFill>
                  <a:srgbClr val="8FD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"Clavier"</a:t>
            </a:r>
            <a:r>
              <a:rPr lang="en-US" sz="1300" dirty="0">
                <a:solidFill>
                  <a:srgbClr val="F2F5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,</a:t>
            </a:r>
            <a:endParaRPr lang="en-US" sz="130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F2F5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</a:t>
            </a:r>
            <a:r>
              <a:rPr lang="en-US" sz="1300" dirty="0">
                <a:solidFill>
                  <a:srgbClr val="FFD1E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"price"</a:t>
            </a:r>
            <a:r>
              <a:rPr lang="en-US" sz="1300" dirty="0">
                <a:solidFill>
                  <a:srgbClr val="F2F5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: </a:t>
            </a:r>
            <a:r>
              <a:rPr lang="en-US" sz="1300" dirty="0">
                <a:solidFill>
                  <a:srgbClr val="8FD4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89.9</a:t>
            </a:r>
            <a:endParaRPr lang="en-US" sz="130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F2F5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}</a:t>
            </a:r>
            <a:endParaRPr lang="en-US" sz="130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F2F5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}</a:t>
            </a:r>
            <a:endParaRPr lang="en-US" sz="1300" dirty="0"/>
          </a:p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F2F5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A6B7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Tout est enveloppé dans data. Les erreurs éventuelles arrivent à côté, dans errors.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00" dirty="0">
                <a:solidFill>
                  <a:srgbClr val="E1009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02 · LES BRIQUES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800" y="1297915"/>
            <a:ext cx="10883392" cy="500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40"/>
              </a:lnSpc>
              <a:buNone/>
            </a:pPr>
            <a:r>
              <a:rPr lang="en-US" sz="3400" b="1" dirty="0">
                <a:solidFill>
                  <a:srgbClr val="16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 schéma : le contrat de votre API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15975" y="2030016"/>
            <a:ext cx="5162550" cy="2719917"/>
          </a:xfrm>
          <a:prstGeom prst="roundRect">
            <a:avLst>
              <a:gd name="adj" fmla="val 3152"/>
            </a:avLst>
          </a:prstGeom>
          <a:solidFill>
            <a:srgbClr val="F2F4F7"/>
          </a:solidFill>
          <a:ln w="6350">
            <a:solidFill>
              <a:srgbClr val="E2E7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1020233" y="2208874"/>
            <a:ext cx="4896654" cy="2387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25"/>
              </a:lnSpc>
              <a:buNone/>
            </a:pPr>
            <a:r>
              <a:rPr lang="en-US" sz="1500" dirty="0">
                <a:solidFill>
                  <a:srgbClr val="1620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type Product {</a:t>
            </a:r>
            <a:endParaRPr lang="en-US" sz="1500" dirty="0"/>
          </a:p>
          <a:p>
            <a:pPr marL="0" indent="0" algn="l">
              <a:lnSpc>
                <a:spcPts val="2325"/>
              </a:lnSpc>
              <a:buNone/>
            </a:pPr>
            <a:r>
              <a:rPr lang="en-US" sz="1500" dirty="0">
                <a:solidFill>
                  <a:srgbClr val="1620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id: ID!</a:t>
            </a:r>
            <a:endParaRPr lang="en-US" sz="1500" dirty="0"/>
          </a:p>
          <a:p>
            <a:pPr marL="0" indent="0" algn="l">
              <a:lnSpc>
                <a:spcPts val="2325"/>
              </a:lnSpc>
              <a:buNone/>
            </a:pPr>
            <a:r>
              <a:rPr lang="en-US" sz="1500" dirty="0">
                <a:solidFill>
                  <a:srgbClr val="1620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name: String!</a:t>
            </a:r>
            <a:endParaRPr lang="en-US" sz="1500" dirty="0"/>
          </a:p>
          <a:p>
            <a:pPr marL="0" indent="0" algn="l">
              <a:lnSpc>
                <a:spcPts val="2325"/>
              </a:lnSpc>
              <a:buNone/>
            </a:pPr>
            <a:r>
              <a:rPr lang="en-US" sz="1500" dirty="0">
                <a:solidFill>
                  <a:srgbClr val="1620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description: String</a:t>
            </a:r>
            <a:endParaRPr lang="en-US" sz="1500" dirty="0"/>
          </a:p>
          <a:p>
            <a:pPr marL="0" indent="0" algn="l">
              <a:lnSpc>
                <a:spcPts val="2325"/>
              </a:lnSpc>
              <a:buNone/>
            </a:pPr>
            <a:r>
              <a:rPr lang="en-US" sz="1500" dirty="0">
                <a:solidFill>
                  <a:srgbClr val="1620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price: Float!</a:t>
            </a:r>
            <a:endParaRPr lang="en-US" sz="1500" dirty="0"/>
          </a:p>
          <a:p>
            <a:pPr marL="0" indent="0" algn="l">
              <a:lnSpc>
                <a:spcPts val="2325"/>
              </a:lnSpc>
              <a:buNone/>
            </a:pPr>
            <a:r>
              <a:rPr lang="en-US" sz="1500" dirty="0">
                <a:solidFill>
                  <a:srgbClr val="1620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stock: Int!</a:t>
            </a:r>
            <a:endParaRPr lang="en-US" sz="1500" dirty="0"/>
          </a:p>
          <a:p>
            <a:pPr marL="0" indent="0" algn="l">
              <a:lnSpc>
                <a:spcPts val="2325"/>
              </a:lnSpc>
              <a:buNone/>
            </a:pPr>
            <a:r>
              <a:rPr lang="en-US" sz="1500" dirty="0">
                <a:solidFill>
                  <a:srgbClr val="1620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category: String</a:t>
            </a:r>
            <a:endParaRPr lang="en-US" sz="1500" dirty="0"/>
          </a:p>
          <a:p>
            <a:pPr marL="0" indent="0" algn="l">
              <a:lnSpc>
                <a:spcPts val="2325"/>
              </a:lnSpc>
              <a:buNone/>
            </a:pPr>
            <a:r>
              <a:rPr lang="en-US" sz="1500" dirty="0">
                <a:solidFill>
                  <a:srgbClr val="1620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13475" y="2030016"/>
            <a:ext cx="5162550" cy="1156494"/>
          </a:xfrm>
          <a:prstGeom prst="roundRect">
            <a:avLst>
              <a:gd name="adj" fmla="val 9609"/>
            </a:avLst>
          </a:prstGeom>
          <a:solidFill>
            <a:srgbClr val="FFFFFF"/>
          </a:solidFill>
          <a:ln w="6350">
            <a:solidFill>
              <a:srgbClr val="E2E7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6405033" y="2208876"/>
            <a:ext cx="4922816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6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Écrit en SDL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5033" y="2528888"/>
            <a:ext cx="4922816" cy="5041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5A6B7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Schema Definition Language : un langage de description, lisible, indépendant de Node.js ou de MongoDB.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3475" y="3319859"/>
            <a:ext cx="5162550" cy="1156494"/>
          </a:xfrm>
          <a:prstGeom prst="roundRect">
            <a:avLst>
              <a:gd name="adj" fmla="val 9609"/>
            </a:avLst>
          </a:prstGeom>
          <a:solidFill>
            <a:srgbClr val="FFFFFF"/>
          </a:solidFill>
          <a:ln w="6350">
            <a:solidFill>
              <a:srgbClr val="E2E7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6405033" y="3498720"/>
            <a:ext cx="4922816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6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Typé et vérifié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5033" y="3818731"/>
            <a:ext cx="4922816" cy="5041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5A6B7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 serveur refuse une requête qui demande un champ inexistant, avant même de toucher la base.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13475" y="4609703"/>
            <a:ext cx="5162550" cy="1156494"/>
          </a:xfrm>
          <a:prstGeom prst="roundRect">
            <a:avLst>
              <a:gd name="adj" fmla="val 9609"/>
            </a:avLst>
          </a:prstGeom>
          <a:solidFill>
            <a:srgbClr val="FFFFFF"/>
          </a:solidFill>
          <a:ln w="6350">
            <a:solidFill>
              <a:srgbClr val="E2E7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6405033" y="4788564"/>
            <a:ext cx="4922816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6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C'est la documentation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5033" y="5108575"/>
            <a:ext cx="4922816" cy="5041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5A6B7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Apollo Sandbox lit le schéma et génère l'autocomplétion et la doc. Un schéma clair vaut un README.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A6B7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02 · Les briques · exercice 1 du TP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00" dirty="0">
                <a:solidFill>
                  <a:srgbClr val="E1009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02 · LES BRIQUES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800" y="1297918"/>
            <a:ext cx="10883392" cy="500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40"/>
              </a:lnSpc>
              <a:buNone/>
            </a:pPr>
            <a:r>
              <a:rPr lang="en-US" sz="3400" b="1" dirty="0">
                <a:solidFill>
                  <a:srgbClr val="16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Cinq scalaires, deux modificateurs</a:t>
            </a:r>
            <a:endParaRPr lang="en-US" sz="3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2026841"/>
          <a:ext cx="5156200" cy="2475971"/>
        </p:xfrm>
        <a:graphic>
          <a:graphicData uri="http://schemas.openxmlformats.org/drawingml/2006/table">
            <a:tbl>
              <a:tblPr/>
              <a:tblGrid>
                <a:gridCol w="11343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2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93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2666"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16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Type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16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Contenu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16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Exemple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2666"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6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String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6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Texte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6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name: String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2666"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6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Int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6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Entier 32 bits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6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stock: Int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2666"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6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Float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6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Nombre décimal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6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price: Float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2666"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6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Boolean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6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true / false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6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active: Boolean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12643"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6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ID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6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Identifiant, sérialisé en texte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6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id: ID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226175" y="2030016"/>
            <a:ext cx="5149850" cy="917112"/>
          </a:xfrm>
          <a:prstGeom prst="roundRect">
            <a:avLst>
              <a:gd name="adj" fmla="val 12117"/>
            </a:avLst>
          </a:prstGeom>
          <a:solidFill>
            <a:srgbClr val="FFFFFF"/>
          </a:solidFill>
          <a:ln w="6350">
            <a:solidFill>
              <a:srgbClr val="E2E7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3"/>
          <p:cNvSpPr/>
          <p:nvPr/>
        </p:nvSpPr>
        <p:spPr>
          <a:xfrm>
            <a:off x="6417733" y="2208876"/>
            <a:ext cx="4909735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6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 point d'exclamation : non nul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17733" y="2528888"/>
            <a:ext cx="4909735" cy="2647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b="1" dirty="0">
                <a:solidFill>
                  <a:srgbClr val="5A6B7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String!</a:t>
            </a:r>
            <a:r>
              <a:rPr lang="en-US" sz="1300" dirty="0">
                <a:solidFill>
                  <a:srgbClr val="5A6B7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garantit une valeur. Sans le </a:t>
            </a:r>
            <a:r>
              <a:rPr lang="en-US" sz="1300" b="1" dirty="0">
                <a:solidFill>
                  <a:srgbClr val="5A6B7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!</a:t>
            </a:r>
            <a:r>
              <a:rPr lang="en-US" sz="1300" dirty="0">
                <a:solidFill>
                  <a:srgbClr val="5A6B7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, le champ peut valoir null.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226175" y="3080482"/>
            <a:ext cx="5149850" cy="1156494"/>
          </a:xfrm>
          <a:prstGeom prst="roundRect">
            <a:avLst>
              <a:gd name="adj" fmla="val 9609"/>
            </a:avLst>
          </a:prstGeom>
          <a:solidFill>
            <a:srgbClr val="FFFFFF"/>
          </a:solidFill>
          <a:ln w="6350">
            <a:solidFill>
              <a:srgbClr val="E2E7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6"/>
          <p:cNvSpPr/>
          <p:nvPr/>
        </p:nvSpPr>
        <p:spPr>
          <a:xfrm>
            <a:off x="6417733" y="3259336"/>
            <a:ext cx="4909735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6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Les crochets : une liste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417733" y="3579354"/>
            <a:ext cx="4909735" cy="5041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b="1" dirty="0">
                <a:solidFill>
                  <a:srgbClr val="5A6B7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[Product]</a:t>
            </a:r>
            <a:r>
              <a:rPr lang="en-US" sz="1300" dirty="0">
                <a:solidFill>
                  <a:srgbClr val="5A6B7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est une liste. </a:t>
            </a:r>
            <a:r>
              <a:rPr lang="en-US" sz="1300" b="1" dirty="0">
                <a:solidFill>
                  <a:srgbClr val="5A6B7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[Product!]!</a:t>
            </a:r>
            <a:r>
              <a:rPr lang="en-US" sz="1300" dirty="0">
                <a:solidFill>
                  <a:srgbClr val="5A6B7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se lit de l'intérieur vers l'extérieur : liste obligatoire d'éléments obligatoires.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226175" y="4370325"/>
            <a:ext cx="5149850" cy="1156494"/>
          </a:xfrm>
          <a:prstGeom prst="roundRect">
            <a:avLst>
              <a:gd name="adj" fmla="val 9609"/>
            </a:avLst>
          </a:prstGeom>
          <a:solidFill>
            <a:srgbClr val="FFFFFF"/>
          </a:solidFill>
          <a:ln w="6350">
            <a:solidFill>
              <a:srgbClr val="E2E7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6417733" y="4549180"/>
            <a:ext cx="4909735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6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Et vos propres types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6417733" y="4869197"/>
            <a:ext cx="4909735" cy="5041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5A6B7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Tout type que vous déclarez (Product, Order) s'utilise ensuite comme un type de champ.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A6B7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Lire [Product!]! : la liste existe toujours, elle peut être vide, mais ne contient jamais de null.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00" dirty="0">
                <a:solidFill>
                  <a:srgbClr val="E1009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02 · LES BRIQUES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800" y="1297918"/>
            <a:ext cx="10883392" cy="500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40"/>
              </a:lnSpc>
              <a:buNone/>
            </a:pPr>
            <a:r>
              <a:rPr lang="en-US" sz="3400" b="1" dirty="0">
                <a:solidFill>
                  <a:srgbClr val="16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Query : lire des données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12800" y="2026841"/>
            <a:ext cx="5323967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75"/>
              </a:lnSpc>
              <a:buNone/>
            </a:pPr>
            <a:r>
              <a:rPr lang="en-US" sz="1500" dirty="0">
                <a:solidFill>
                  <a:srgbClr val="16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Dans le schéma, on déclare les points d'entrée en lecture 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15975" y="2420541"/>
            <a:ext cx="5162550" cy="1499394"/>
          </a:xfrm>
          <a:prstGeom prst="roundRect">
            <a:avLst>
              <a:gd name="adj" fmla="val 5717"/>
            </a:avLst>
          </a:prstGeom>
          <a:solidFill>
            <a:srgbClr val="F2F4F7"/>
          </a:solidFill>
          <a:ln w="6350">
            <a:solidFill>
              <a:srgbClr val="E2E7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1020233" y="2599399"/>
            <a:ext cx="4896654" cy="11670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8"/>
              </a:lnSpc>
              <a:buNone/>
            </a:pPr>
            <a:r>
              <a:rPr lang="en-US" sz="1450" dirty="0">
                <a:solidFill>
                  <a:srgbClr val="1620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type Query {</a:t>
            </a:r>
            <a:endParaRPr lang="en-US" sz="1450" dirty="0"/>
          </a:p>
          <a:p>
            <a:pPr marL="0" indent="0" algn="l">
              <a:lnSpc>
                <a:spcPts val="2248"/>
              </a:lnSpc>
              <a:buNone/>
            </a:pPr>
            <a:r>
              <a:rPr lang="en-US" sz="1450" dirty="0">
                <a:solidFill>
                  <a:srgbClr val="1620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products: [Product!]!</a:t>
            </a:r>
            <a:endParaRPr lang="en-US" sz="1450" dirty="0"/>
          </a:p>
          <a:p>
            <a:pPr marL="0" indent="0" algn="l">
              <a:lnSpc>
                <a:spcPts val="2248"/>
              </a:lnSpc>
              <a:buNone/>
            </a:pPr>
            <a:r>
              <a:rPr lang="en-US" sz="1450" dirty="0">
                <a:solidFill>
                  <a:srgbClr val="1620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product(id: ID!): Product</a:t>
            </a:r>
            <a:endParaRPr lang="en-US" sz="1450" dirty="0"/>
          </a:p>
          <a:p>
            <a:pPr marL="0" indent="0" algn="l">
              <a:lnSpc>
                <a:spcPts val="2248"/>
              </a:lnSpc>
              <a:buNone/>
            </a:pPr>
            <a:r>
              <a:rPr lang="en-US" sz="1450" dirty="0">
                <a:solidFill>
                  <a:srgbClr val="1620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12800" y="4037409"/>
            <a:ext cx="5323967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dirty="0">
                <a:solidFill>
                  <a:srgbClr val="5A6B7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Query est un type spécial : c'est la racine de toute lecture.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210300" y="2026841"/>
            <a:ext cx="5323967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75"/>
              </a:lnSpc>
              <a:buNone/>
            </a:pPr>
            <a:r>
              <a:rPr lang="en-US" sz="1500" dirty="0">
                <a:solidFill>
                  <a:srgbClr val="16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Côté client, on appelle ces champs :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13475" y="2420541"/>
            <a:ext cx="5162550" cy="2070232"/>
          </a:xfrm>
          <a:prstGeom prst="roundRect">
            <a:avLst>
              <a:gd name="adj" fmla="val 4141"/>
            </a:avLst>
          </a:prstGeom>
          <a:solidFill>
            <a:srgbClr val="1F2D3F"/>
          </a:solidFill>
          <a:ln w="6350">
            <a:solidFill>
              <a:srgbClr val="3347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6417733" y="2599399"/>
            <a:ext cx="4896654" cy="1737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8"/>
              </a:lnSpc>
              <a:buNone/>
            </a:pPr>
            <a:r>
              <a:rPr lang="en-US" sz="1450" dirty="0">
                <a:solidFill>
                  <a:srgbClr val="F2F5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query {</a:t>
            </a:r>
            <a:endParaRPr lang="en-US" sz="1450" dirty="0"/>
          </a:p>
          <a:p>
            <a:pPr marL="0" indent="0" algn="l">
              <a:lnSpc>
                <a:spcPts val="2248"/>
              </a:lnSpc>
              <a:buNone/>
            </a:pPr>
            <a:r>
              <a:rPr lang="en-US" sz="1450" dirty="0">
                <a:solidFill>
                  <a:srgbClr val="F2F5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products {</a:t>
            </a:r>
            <a:endParaRPr lang="en-US" sz="1450" dirty="0"/>
          </a:p>
          <a:p>
            <a:pPr marL="0" indent="0" algn="l">
              <a:lnSpc>
                <a:spcPts val="2248"/>
              </a:lnSpc>
              <a:buNone/>
            </a:pPr>
            <a:r>
              <a:rPr lang="en-US" sz="1450" dirty="0">
                <a:solidFill>
                  <a:srgbClr val="F2F5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name</a:t>
            </a:r>
            <a:endParaRPr lang="en-US" sz="1450" dirty="0"/>
          </a:p>
          <a:p>
            <a:pPr marL="0" indent="0" algn="l">
              <a:lnSpc>
                <a:spcPts val="2248"/>
              </a:lnSpc>
              <a:buNone/>
            </a:pPr>
            <a:r>
              <a:rPr lang="en-US" sz="1450" dirty="0">
                <a:solidFill>
                  <a:srgbClr val="F2F5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price</a:t>
            </a:r>
            <a:endParaRPr lang="en-US" sz="1450" dirty="0"/>
          </a:p>
          <a:p>
            <a:pPr marL="0" indent="0" algn="l">
              <a:lnSpc>
                <a:spcPts val="2248"/>
              </a:lnSpc>
              <a:buNone/>
            </a:pPr>
            <a:r>
              <a:rPr lang="en-US" sz="1450" dirty="0">
                <a:solidFill>
                  <a:srgbClr val="F2F5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}</a:t>
            </a:r>
            <a:endParaRPr lang="en-US" sz="1450" dirty="0"/>
          </a:p>
          <a:p>
            <a:pPr marL="0" indent="0" algn="l">
              <a:lnSpc>
                <a:spcPts val="2248"/>
              </a:lnSpc>
              <a:buNone/>
            </a:pPr>
            <a:r>
              <a:rPr lang="en-US" sz="1450" dirty="0">
                <a:solidFill>
                  <a:srgbClr val="F2F5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6210300" y="4608252"/>
            <a:ext cx="5323967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dirty="0">
                <a:solidFill>
                  <a:srgbClr val="5A6B7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Plusieurs champs dans la même requête ? Ils partent ensemble, en un seul aller-retour réseau.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A6B7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02 · Les briques · exercice 1 du TP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14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00" dirty="0">
                <a:solidFill>
                  <a:srgbClr val="E1009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02 · LES BRIQUES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800" y="1292889"/>
            <a:ext cx="10883392" cy="4900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70"/>
              </a:lnSpc>
              <a:buNone/>
            </a:pPr>
            <a:r>
              <a:rPr lang="en-US" sz="3336" b="1" dirty="0">
                <a:solidFill>
                  <a:srgbClr val="16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Arguments et variables</a:t>
            </a:r>
            <a:endParaRPr lang="en-US" sz="3336" dirty="0"/>
          </a:p>
        </p:txBody>
      </p:sp>
      <p:sp>
        <p:nvSpPr>
          <p:cNvPr id="4" name="Text 2"/>
          <p:cNvSpPr/>
          <p:nvPr/>
        </p:nvSpPr>
        <p:spPr>
          <a:xfrm>
            <a:off x="812800" y="2011561"/>
            <a:ext cx="5323967" cy="2606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2"/>
              </a:lnSpc>
              <a:buNone/>
            </a:pPr>
            <a:r>
              <a:rPr lang="en-US" sz="1560" b="1" dirty="0">
                <a:solidFill>
                  <a:srgbClr val="16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 dur : pratique pour tester</a:t>
            </a:r>
            <a:endParaRPr lang="en-US" sz="1560" dirty="0"/>
          </a:p>
        </p:txBody>
      </p:sp>
      <p:sp>
        <p:nvSpPr>
          <p:cNvPr id="5" name="Shape 3"/>
          <p:cNvSpPr/>
          <p:nvPr/>
        </p:nvSpPr>
        <p:spPr>
          <a:xfrm>
            <a:off x="815975" y="2351553"/>
            <a:ext cx="5162550" cy="1155502"/>
          </a:xfrm>
          <a:prstGeom prst="roundRect">
            <a:avLst>
              <a:gd name="adj" fmla="val 7419"/>
            </a:avLst>
          </a:prstGeom>
          <a:solidFill>
            <a:srgbClr val="F2F4F7"/>
          </a:solidFill>
          <a:ln w="6350">
            <a:solidFill>
              <a:srgbClr val="E2E7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1020233" y="2530411"/>
            <a:ext cx="4896654" cy="8231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2"/>
              </a:lnSpc>
              <a:buNone/>
            </a:pPr>
            <a:r>
              <a:rPr lang="en-US" sz="1356" dirty="0">
                <a:solidFill>
                  <a:srgbClr val="1620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query {</a:t>
            </a:r>
            <a:endParaRPr lang="en-US" sz="1356" dirty="0"/>
          </a:p>
          <a:p>
            <a:pPr marL="0" indent="0" algn="l">
              <a:lnSpc>
                <a:spcPts val="2102"/>
              </a:lnSpc>
              <a:buNone/>
            </a:pPr>
            <a:r>
              <a:rPr lang="en-US" sz="1356" dirty="0">
                <a:solidFill>
                  <a:srgbClr val="1620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product(id: "42") { name }</a:t>
            </a:r>
            <a:endParaRPr lang="en-US" sz="1356" dirty="0"/>
          </a:p>
          <a:p>
            <a:pPr marL="0" indent="0" algn="l">
              <a:lnSpc>
                <a:spcPts val="2102"/>
              </a:lnSpc>
              <a:buNone/>
            </a:pPr>
            <a:r>
              <a:rPr lang="en-US" sz="1356" dirty="0">
                <a:solidFill>
                  <a:srgbClr val="1620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356" dirty="0"/>
          </a:p>
        </p:txBody>
      </p:sp>
      <p:sp>
        <p:nvSpPr>
          <p:cNvPr id="7" name="Text 5"/>
          <p:cNvSpPr/>
          <p:nvPr/>
        </p:nvSpPr>
        <p:spPr>
          <a:xfrm>
            <a:off x="812800" y="3611829"/>
            <a:ext cx="5323967" cy="2606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2"/>
              </a:lnSpc>
              <a:buNone/>
            </a:pPr>
            <a:r>
              <a:rPr lang="en-US" sz="1560" b="1" dirty="0">
                <a:solidFill>
                  <a:srgbClr val="16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Avec variables : ce qu'on fait en vrai</a:t>
            </a:r>
            <a:endParaRPr lang="en-US" sz="1560" dirty="0"/>
          </a:p>
        </p:txBody>
      </p:sp>
      <p:sp>
        <p:nvSpPr>
          <p:cNvPr id="8" name="Shape 6"/>
          <p:cNvSpPr/>
          <p:nvPr/>
        </p:nvSpPr>
        <p:spPr>
          <a:xfrm>
            <a:off x="815975" y="3951821"/>
            <a:ext cx="5162550" cy="1155502"/>
          </a:xfrm>
          <a:prstGeom prst="roundRect">
            <a:avLst>
              <a:gd name="adj" fmla="val 7419"/>
            </a:avLst>
          </a:prstGeom>
          <a:solidFill>
            <a:srgbClr val="1F2D3F"/>
          </a:solidFill>
          <a:ln w="6350">
            <a:solidFill>
              <a:srgbClr val="3347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1020233" y="4130679"/>
            <a:ext cx="4896654" cy="8231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2"/>
              </a:lnSpc>
              <a:buNone/>
            </a:pPr>
            <a:r>
              <a:rPr lang="en-US" sz="1356" dirty="0">
                <a:solidFill>
                  <a:srgbClr val="F2F5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query GetProduct($id: ID!) {</a:t>
            </a:r>
            <a:endParaRPr lang="en-US" sz="1356" dirty="0"/>
          </a:p>
          <a:p>
            <a:pPr marL="0" indent="0" algn="l">
              <a:lnSpc>
                <a:spcPts val="2102"/>
              </a:lnSpc>
              <a:buNone/>
            </a:pPr>
            <a:r>
              <a:rPr lang="en-US" sz="1356" dirty="0">
                <a:solidFill>
                  <a:srgbClr val="F2F5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product(id: $id) { name price }</a:t>
            </a:r>
            <a:endParaRPr lang="en-US" sz="1356" dirty="0"/>
          </a:p>
          <a:p>
            <a:pPr marL="0" indent="0" algn="l">
              <a:lnSpc>
                <a:spcPts val="2102"/>
              </a:lnSpc>
              <a:buNone/>
            </a:pPr>
            <a:r>
              <a:rPr lang="en-US" sz="1356" dirty="0">
                <a:solidFill>
                  <a:srgbClr val="F2F5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356" dirty="0"/>
          </a:p>
        </p:txBody>
      </p:sp>
      <p:sp>
        <p:nvSpPr>
          <p:cNvPr id="10" name="Shape 8"/>
          <p:cNvSpPr/>
          <p:nvPr/>
        </p:nvSpPr>
        <p:spPr>
          <a:xfrm>
            <a:off x="815975" y="5215272"/>
            <a:ext cx="5162550" cy="623557"/>
          </a:xfrm>
          <a:prstGeom prst="roundRect">
            <a:avLst>
              <a:gd name="adj" fmla="val 13748"/>
            </a:avLst>
          </a:prstGeom>
          <a:solidFill>
            <a:srgbClr val="F2F4F7"/>
          </a:solidFill>
          <a:ln w="6350">
            <a:solidFill>
              <a:srgbClr val="E2E7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1020233" y="5394131"/>
            <a:ext cx="4896654" cy="291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2"/>
              </a:lnSpc>
              <a:buNone/>
            </a:pPr>
            <a:r>
              <a:rPr lang="en-US" sz="1356" dirty="0">
                <a:solidFill>
                  <a:srgbClr val="1620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 "id": "42" }</a:t>
            </a:r>
            <a:endParaRPr lang="en-US" sz="1356" dirty="0"/>
          </a:p>
        </p:txBody>
      </p:sp>
      <p:sp>
        <p:nvSpPr>
          <p:cNvPr id="12" name="Shape 10"/>
          <p:cNvSpPr/>
          <p:nvPr/>
        </p:nvSpPr>
        <p:spPr>
          <a:xfrm>
            <a:off x="6213475" y="2014736"/>
            <a:ext cx="5162550" cy="1156494"/>
          </a:xfrm>
          <a:prstGeom prst="roundRect">
            <a:avLst>
              <a:gd name="adj" fmla="val 9609"/>
            </a:avLst>
          </a:prstGeom>
          <a:solidFill>
            <a:srgbClr val="FFFFFF"/>
          </a:solidFill>
          <a:ln w="6350">
            <a:solidFill>
              <a:srgbClr val="E2E7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6405033" y="2193596"/>
            <a:ext cx="4922816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6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Pourquoi des variables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5033" y="2513608"/>
            <a:ext cx="4922816" cy="5041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5A6B7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 requête devient réutilisable et cacheable côté client, et les valeurs ne sont plus concaténées dans une chaîne.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13475" y="3304580"/>
            <a:ext cx="5162550" cy="1156494"/>
          </a:xfrm>
          <a:prstGeom prst="roundRect">
            <a:avLst>
              <a:gd name="adj" fmla="val 9609"/>
            </a:avLst>
          </a:prstGeom>
          <a:solidFill>
            <a:srgbClr val="FFFFFF"/>
          </a:solidFill>
          <a:ln w="6350">
            <a:solidFill>
              <a:srgbClr val="E2E7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6405033" y="3483440"/>
            <a:ext cx="4922816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6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Valeurs par défaut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5033" y="3803452"/>
            <a:ext cx="4922816" cy="5041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5A6B7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 argument peut en avoir une : </a:t>
            </a:r>
            <a:r>
              <a:rPr lang="en-US" sz="1300" b="1" dirty="0">
                <a:solidFill>
                  <a:srgbClr val="5A6B7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limit: Int = 10</a:t>
            </a:r>
            <a:r>
              <a:rPr lang="en-US" sz="1300" dirty="0">
                <a:solidFill>
                  <a:srgbClr val="5A6B7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 Le client peut alors l'omettre.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13475" y="4594423"/>
            <a:ext cx="5162550" cy="1156494"/>
          </a:xfrm>
          <a:prstGeom prst="roundRect">
            <a:avLst>
              <a:gd name="adj" fmla="val 9609"/>
            </a:avLst>
          </a:prstGeom>
          <a:solidFill>
            <a:srgbClr val="FFFFFF"/>
          </a:solidFill>
          <a:ln w="6350">
            <a:solidFill>
              <a:srgbClr val="E2E7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6405033" y="4773284"/>
            <a:ext cx="4922816" cy="2692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6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Dans le TP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05033" y="5093295"/>
            <a:ext cx="4922816" cy="5041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5A6B7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Exercice 4 : filtres, tri et pagination passent tous par des arguments.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A6B7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02 · Les briques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00" dirty="0">
                <a:solidFill>
                  <a:srgbClr val="E1009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02 · LES BRIQUES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800" y="1297918"/>
            <a:ext cx="10883392" cy="500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40"/>
              </a:lnSpc>
              <a:buNone/>
            </a:pPr>
            <a:r>
              <a:rPr lang="en-US" sz="3400" b="1" dirty="0">
                <a:solidFill>
                  <a:srgbClr val="16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Mutation : écrire des données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15975" y="2030016"/>
            <a:ext cx="5162550" cy="2011098"/>
          </a:xfrm>
          <a:prstGeom prst="roundRect">
            <a:avLst>
              <a:gd name="adj" fmla="val 4263"/>
            </a:avLst>
          </a:prstGeom>
          <a:solidFill>
            <a:srgbClr val="F2F4F7"/>
          </a:solidFill>
          <a:ln w="6350">
            <a:solidFill>
              <a:srgbClr val="E2E7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1020233" y="2208874"/>
            <a:ext cx="4896654" cy="16787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70"/>
              </a:lnSpc>
              <a:buNone/>
            </a:pPr>
            <a:r>
              <a:rPr lang="en-US" sz="1400" dirty="0">
                <a:solidFill>
                  <a:srgbClr val="1620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type Mutation {</a:t>
            </a:r>
            <a:endParaRPr lang="en-US" sz="1400" dirty="0"/>
          </a:p>
          <a:p>
            <a:pPr marL="0" indent="0" algn="l">
              <a:lnSpc>
                <a:spcPts val="2170"/>
              </a:lnSpc>
              <a:buNone/>
            </a:pPr>
            <a:r>
              <a:rPr lang="en-US" sz="1400" dirty="0">
                <a:solidFill>
                  <a:srgbClr val="1620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createProduct(</a:t>
            </a:r>
            <a:endParaRPr lang="en-US" sz="1400" dirty="0"/>
          </a:p>
          <a:p>
            <a:pPr marL="0" indent="0" algn="l">
              <a:lnSpc>
                <a:spcPts val="2170"/>
              </a:lnSpc>
              <a:buNone/>
            </a:pPr>
            <a:r>
              <a:rPr lang="en-US" sz="1400" dirty="0">
                <a:solidFill>
                  <a:srgbClr val="1620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input: ProductInput!</a:t>
            </a:r>
            <a:endParaRPr lang="en-US" sz="1400" dirty="0"/>
          </a:p>
          <a:p>
            <a:pPr marL="0" indent="0" algn="l">
              <a:lnSpc>
                <a:spcPts val="2170"/>
              </a:lnSpc>
              <a:buNone/>
            </a:pPr>
            <a:r>
              <a:rPr lang="en-US" sz="1400" dirty="0">
                <a:solidFill>
                  <a:srgbClr val="1620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): Product!</a:t>
            </a:r>
            <a:endParaRPr lang="en-US" sz="1400" dirty="0"/>
          </a:p>
          <a:p>
            <a:pPr marL="0" indent="0" algn="l">
              <a:lnSpc>
                <a:spcPts val="2170"/>
              </a:lnSpc>
              <a:buNone/>
            </a:pPr>
            <a:r>
              <a:rPr lang="en-US" sz="1400" dirty="0">
                <a:solidFill>
                  <a:srgbClr val="1620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deleteProduct(id: ID!): Boolean!</a:t>
            </a:r>
            <a:endParaRPr lang="en-US" sz="1400" dirty="0"/>
          </a:p>
          <a:p>
            <a:pPr marL="0" indent="0" algn="l">
              <a:lnSpc>
                <a:spcPts val="2170"/>
              </a:lnSpc>
              <a:buNone/>
            </a:pPr>
            <a:r>
              <a:rPr lang="en-US" sz="1400" dirty="0">
                <a:solidFill>
                  <a:srgbClr val="1620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2800" y="4158593"/>
            <a:ext cx="5323967" cy="798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dirty="0">
                <a:solidFill>
                  <a:srgbClr val="5A6B7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Techniquement, rien n'empêche une Query de modifier la base. C'est une convention, et elle compte : les mutations d'une même requête s'exécutent l'une après l'autre, les queries en parallèle.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3475" y="2030016"/>
            <a:ext cx="5162550" cy="2562225"/>
          </a:xfrm>
          <a:prstGeom prst="roundRect">
            <a:avLst>
              <a:gd name="adj" fmla="val 3346"/>
            </a:avLst>
          </a:prstGeom>
          <a:solidFill>
            <a:srgbClr val="1F2D3F"/>
          </a:solidFill>
          <a:ln w="6350">
            <a:solidFill>
              <a:srgbClr val="3347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6417733" y="2208874"/>
            <a:ext cx="4896654" cy="22299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70"/>
              </a:lnSpc>
              <a:buNone/>
            </a:pPr>
            <a:r>
              <a:rPr lang="en-US" sz="1400" dirty="0">
                <a:solidFill>
                  <a:srgbClr val="F2F5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mutation {</a:t>
            </a:r>
            <a:endParaRPr lang="en-US" sz="1400" dirty="0"/>
          </a:p>
          <a:p>
            <a:pPr marL="0" indent="0" algn="l">
              <a:lnSpc>
                <a:spcPts val="2170"/>
              </a:lnSpc>
              <a:buNone/>
            </a:pPr>
            <a:r>
              <a:rPr lang="en-US" sz="1400" dirty="0">
                <a:solidFill>
                  <a:srgbClr val="F2F5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createProduct(input: {</a:t>
            </a:r>
            <a:endParaRPr lang="en-US" sz="1400" dirty="0"/>
          </a:p>
          <a:p>
            <a:pPr marL="0" indent="0" algn="l">
              <a:lnSpc>
                <a:spcPts val="2170"/>
              </a:lnSpc>
              <a:buNone/>
            </a:pPr>
            <a:r>
              <a:rPr lang="en-US" sz="1400" dirty="0">
                <a:solidFill>
                  <a:srgbClr val="F2F5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name: "Clavier", price: 89.9</a:t>
            </a:r>
            <a:endParaRPr lang="en-US" sz="1400" dirty="0"/>
          </a:p>
          <a:p>
            <a:pPr marL="0" indent="0" algn="l">
              <a:lnSpc>
                <a:spcPts val="2170"/>
              </a:lnSpc>
              <a:buNone/>
            </a:pPr>
            <a:r>
              <a:rPr lang="en-US" sz="1400" dirty="0">
                <a:solidFill>
                  <a:srgbClr val="F2F5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}) {</a:t>
            </a:r>
            <a:endParaRPr lang="en-US" sz="1400" dirty="0"/>
          </a:p>
          <a:p>
            <a:pPr marL="0" indent="0" algn="l">
              <a:lnSpc>
                <a:spcPts val="2170"/>
              </a:lnSpc>
              <a:buNone/>
            </a:pPr>
            <a:r>
              <a:rPr lang="en-US" sz="1400" dirty="0">
                <a:solidFill>
                  <a:srgbClr val="F2F5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id</a:t>
            </a:r>
            <a:endParaRPr lang="en-US" sz="1400" dirty="0"/>
          </a:p>
          <a:p>
            <a:pPr marL="0" indent="0" algn="l">
              <a:lnSpc>
                <a:spcPts val="2170"/>
              </a:lnSpc>
              <a:buNone/>
            </a:pPr>
            <a:r>
              <a:rPr lang="en-US" sz="1400" dirty="0">
                <a:solidFill>
                  <a:srgbClr val="F2F5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name</a:t>
            </a:r>
            <a:endParaRPr lang="en-US" sz="1400" dirty="0"/>
          </a:p>
          <a:p>
            <a:pPr marL="0" indent="0" algn="l">
              <a:lnSpc>
                <a:spcPts val="2170"/>
              </a:lnSpc>
              <a:buNone/>
            </a:pPr>
            <a:r>
              <a:rPr lang="en-US" sz="1400" dirty="0">
                <a:solidFill>
                  <a:srgbClr val="F2F5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}</a:t>
            </a:r>
            <a:endParaRPr lang="en-US" sz="1400" dirty="0"/>
          </a:p>
          <a:p>
            <a:pPr marL="0" indent="0" algn="l">
              <a:lnSpc>
                <a:spcPts val="2170"/>
              </a:lnSpc>
              <a:buNone/>
            </a:pPr>
            <a:r>
              <a:rPr lang="en-US" sz="1400" dirty="0">
                <a:solidFill>
                  <a:srgbClr val="F2F5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210300" y="4709716"/>
            <a:ext cx="5323967" cy="798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dirty="0">
                <a:solidFill>
                  <a:srgbClr val="5A6B7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Une mutation retourne un type : on choisit donc les champs de l'objet créé, comme pour une lecture. Très pratique pour récupérer l'id généré.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A6B7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02 · Les briques · exercice 2 du TP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27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1"/>
              </a:lnSpc>
              <a:buNone/>
            </a:pPr>
            <a:r>
              <a:rPr lang="en-US" sz="1158" b="1" kern="0" spc="100" dirty="0">
                <a:solidFill>
                  <a:srgbClr val="E1009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02 · LES BRIQUES</a:t>
            </a:r>
            <a:endParaRPr lang="en-US" sz="1158" dirty="0"/>
          </a:p>
        </p:txBody>
      </p:sp>
      <p:sp>
        <p:nvSpPr>
          <p:cNvPr id="3" name="Text 1"/>
          <p:cNvSpPr/>
          <p:nvPr/>
        </p:nvSpPr>
        <p:spPr>
          <a:xfrm>
            <a:off x="812800" y="1269008"/>
            <a:ext cx="10883392" cy="4409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73"/>
              </a:lnSpc>
              <a:buNone/>
            </a:pPr>
            <a:r>
              <a:rPr lang="en-US" sz="2975" b="1" dirty="0">
                <a:solidFill>
                  <a:srgbClr val="16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Les types input : des objets en entrée</a:t>
            </a:r>
            <a:endParaRPr lang="en-US" sz="2975" dirty="0"/>
          </a:p>
        </p:txBody>
      </p:sp>
      <p:sp>
        <p:nvSpPr>
          <p:cNvPr id="4" name="Shape 2"/>
          <p:cNvSpPr/>
          <p:nvPr/>
        </p:nvSpPr>
        <p:spPr>
          <a:xfrm>
            <a:off x="815975" y="1941779"/>
            <a:ext cx="5162550" cy="2424642"/>
          </a:xfrm>
          <a:prstGeom prst="roundRect">
            <a:avLst>
              <a:gd name="adj" fmla="val 3536"/>
            </a:avLst>
          </a:prstGeom>
          <a:solidFill>
            <a:srgbClr val="F2F4F7"/>
          </a:solidFill>
          <a:ln w="6350">
            <a:solidFill>
              <a:srgbClr val="E2E7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1020233" y="2120637"/>
            <a:ext cx="4896654" cy="20923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25"/>
              </a:lnSpc>
              <a:buNone/>
            </a:pPr>
            <a:r>
              <a:rPr lang="en-US" sz="1500" dirty="0">
                <a:solidFill>
                  <a:srgbClr val="1620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input ProductInput {</a:t>
            </a:r>
            <a:endParaRPr lang="en-US" sz="1500" dirty="0"/>
          </a:p>
          <a:p>
            <a:pPr marL="0" indent="0" algn="l">
              <a:lnSpc>
                <a:spcPts val="2325"/>
              </a:lnSpc>
              <a:buNone/>
            </a:pPr>
            <a:r>
              <a:rPr lang="en-US" sz="1500" dirty="0">
                <a:solidFill>
                  <a:srgbClr val="1620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name: String!</a:t>
            </a:r>
            <a:endParaRPr lang="en-US" sz="1500" dirty="0"/>
          </a:p>
          <a:p>
            <a:pPr marL="0" indent="0" algn="l">
              <a:lnSpc>
                <a:spcPts val="2325"/>
              </a:lnSpc>
              <a:buNone/>
            </a:pPr>
            <a:r>
              <a:rPr lang="en-US" sz="1500" dirty="0">
                <a:solidFill>
                  <a:srgbClr val="1620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description: String</a:t>
            </a:r>
            <a:endParaRPr lang="en-US" sz="1500" dirty="0"/>
          </a:p>
          <a:p>
            <a:pPr marL="0" indent="0" algn="l">
              <a:lnSpc>
                <a:spcPts val="2325"/>
              </a:lnSpc>
              <a:buNone/>
            </a:pPr>
            <a:r>
              <a:rPr lang="en-US" sz="1500" dirty="0">
                <a:solidFill>
                  <a:srgbClr val="1620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price: Float!</a:t>
            </a:r>
            <a:endParaRPr lang="en-US" sz="1500" dirty="0"/>
          </a:p>
          <a:p>
            <a:pPr marL="0" indent="0" algn="l">
              <a:lnSpc>
                <a:spcPts val="2325"/>
              </a:lnSpc>
              <a:buNone/>
            </a:pPr>
            <a:r>
              <a:rPr lang="en-US" sz="1500" dirty="0">
                <a:solidFill>
                  <a:srgbClr val="1620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stock: Int</a:t>
            </a:r>
            <a:endParaRPr lang="en-US" sz="1500" dirty="0"/>
          </a:p>
          <a:p>
            <a:pPr marL="0" indent="0" algn="l">
              <a:lnSpc>
                <a:spcPts val="2325"/>
              </a:lnSpc>
              <a:buNone/>
            </a:pPr>
            <a:r>
              <a:rPr lang="en-US" sz="1500" dirty="0">
                <a:solidFill>
                  <a:srgbClr val="1620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category: String</a:t>
            </a:r>
            <a:endParaRPr lang="en-US" sz="1500" dirty="0"/>
          </a:p>
          <a:p>
            <a:pPr marL="0" indent="0" algn="l">
              <a:lnSpc>
                <a:spcPts val="2325"/>
              </a:lnSpc>
              <a:buNone/>
            </a:pPr>
            <a:r>
              <a:rPr lang="en-US" sz="1500" dirty="0">
                <a:solidFill>
                  <a:srgbClr val="16202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213475" y="1941779"/>
            <a:ext cx="5162550" cy="1210138"/>
          </a:xfrm>
          <a:prstGeom prst="roundRect">
            <a:avLst>
              <a:gd name="adj" fmla="val 9183"/>
            </a:avLst>
          </a:prstGeom>
          <a:solidFill>
            <a:srgbClr val="FFFFFF"/>
          </a:solidFill>
          <a:ln w="6350">
            <a:solidFill>
              <a:srgbClr val="E2E7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6405033" y="2120640"/>
            <a:ext cx="4922816" cy="2221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72"/>
              </a:lnSpc>
              <a:buNone/>
            </a:pPr>
            <a:r>
              <a:rPr lang="en-US" sz="1310" b="1" dirty="0">
                <a:solidFill>
                  <a:srgbClr val="16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Pourquoi pas un type normal</a:t>
            </a:r>
            <a:endParaRPr lang="en-US" sz="1310" dirty="0"/>
          </a:p>
        </p:txBody>
      </p:sp>
      <p:sp>
        <p:nvSpPr>
          <p:cNvPr id="8" name="Text 6"/>
          <p:cNvSpPr/>
          <p:nvPr/>
        </p:nvSpPr>
        <p:spPr>
          <a:xfrm>
            <a:off x="6405033" y="2393553"/>
            <a:ext cx="4922816" cy="604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26"/>
              </a:lnSpc>
              <a:buNone/>
            </a:pPr>
            <a:r>
              <a:rPr lang="en-US" sz="1052" dirty="0">
                <a:solidFill>
                  <a:srgbClr val="5A6B7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GraphQL sépare strictement les types de sortie et d'entrée. Un input ne contient que des scalaires, des enums et d'autres inputs : jamais de champ calculé.</a:t>
            </a:r>
            <a:endParaRPr lang="en-US" sz="1052" dirty="0"/>
          </a:p>
        </p:txBody>
      </p:sp>
      <p:sp>
        <p:nvSpPr>
          <p:cNvPr id="9" name="Shape 7"/>
          <p:cNvSpPr/>
          <p:nvPr/>
        </p:nvSpPr>
        <p:spPr>
          <a:xfrm>
            <a:off x="6213475" y="3285269"/>
            <a:ext cx="5162550" cy="1210072"/>
          </a:xfrm>
          <a:prstGeom prst="roundRect">
            <a:avLst>
              <a:gd name="adj" fmla="val 9183"/>
            </a:avLst>
          </a:prstGeom>
          <a:solidFill>
            <a:srgbClr val="FFFFFF"/>
          </a:solidFill>
          <a:ln w="6350">
            <a:solidFill>
              <a:srgbClr val="E2E7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6405033" y="3464123"/>
            <a:ext cx="4922816" cy="2220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72"/>
              </a:lnSpc>
              <a:buNone/>
            </a:pPr>
            <a:r>
              <a:rPr lang="en-US" sz="1310" b="1" dirty="0">
                <a:solidFill>
                  <a:srgbClr val="16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Ce que ça vous fait gagner</a:t>
            </a:r>
            <a:endParaRPr lang="en-US" sz="1310" dirty="0"/>
          </a:p>
        </p:txBody>
      </p:sp>
      <p:sp>
        <p:nvSpPr>
          <p:cNvPr id="11" name="Text 9"/>
          <p:cNvSpPr/>
          <p:nvPr/>
        </p:nvSpPr>
        <p:spPr>
          <a:xfrm>
            <a:off x="6405033" y="3736975"/>
            <a:ext cx="4922816" cy="604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56"/>
              </a:lnSpc>
              <a:buNone/>
            </a:pPr>
            <a:r>
              <a:rPr lang="en-US" sz="1280" dirty="0">
                <a:solidFill>
                  <a:srgbClr val="5A6B7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 argument au lieu de six, une signature stable, et une validation automatique des champs obligatoires avant votre code.</a:t>
            </a:r>
            <a:endParaRPr lang="en-US" sz="1280" dirty="0"/>
          </a:p>
        </p:txBody>
      </p:sp>
      <p:sp>
        <p:nvSpPr>
          <p:cNvPr id="12" name="Shape 10"/>
          <p:cNvSpPr/>
          <p:nvPr/>
        </p:nvSpPr>
        <p:spPr>
          <a:xfrm>
            <a:off x="6213475" y="4628691"/>
            <a:ext cx="5162550" cy="1210138"/>
          </a:xfrm>
          <a:prstGeom prst="roundRect">
            <a:avLst>
              <a:gd name="adj" fmla="val 9183"/>
            </a:avLst>
          </a:prstGeom>
          <a:solidFill>
            <a:srgbClr val="FFFFFF"/>
          </a:solidFill>
          <a:ln w="6350">
            <a:solidFill>
              <a:srgbClr val="E2E7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6405033" y="4807545"/>
            <a:ext cx="4922816" cy="2221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72"/>
              </a:lnSpc>
              <a:buNone/>
            </a:pPr>
            <a:r>
              <a:rPr lang="en-US" sz="1310" b="1" dirty="0">
                <a:solidFill>
                  <a:srgbClr val="16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 piège</a:t>
            </a:r>
            <a:endParaRPr lang="en-US" sz="1310" dirty="0"/>
          </a:p>
        </p:txBody>
      </p:sp>
      <p:sp>
        <p:nvSpPr>
          <p:cNvPr id="14" name="Text 12"/>
          <p:cNvSpPr/>
          <p:nvPr/>
        </p:nvSpPr>
        <p:spPr>
          <a:xfrm>
            <a:off x="6405033" y="5080465"/>
            <a:ext cx="4922816" cy="604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32"/>
              </a:lnSpc>
              <a:buNone/>
            </a:pPr>
            <a:r>
              <a:rPr lang="en-US" sz="1263" dirty="0">
                <a:solidFill>
                  <a:srgbClr val="5A6B7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 input réutilisé pour la création et la mise à jour force à tout renvoyer. Prévoir un </a:t>
            </a:r>
            <a:r>
              <a:rPr lang="en-US" sz="1263" b="1" dirty="0">
                <a:solidFill>
                  <a:srgbClr val="5A6B7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ProductUpdateInput</a:t>
            </a:r>
            <a:r>
              <a:rPr lang="en-US" sz="1263" dirty="0">
                <a:solidFill>
                  <a:srgbClr val="5A6B7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aux champs optionnels.</a:t>
            </a:r>
            <a:endParaRPr lang="en-US" sz="1263" dirty="0"/>
          </a:p>
        </p:txBody>
      </p:sp>
      <p:sp>
        <p:nvSpPr>
          <p:cNvPr id="15" name="Text 13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A6B7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02 · Les briques · exercice 2 du TP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620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00" dirty="0">
                <a:solidFill>
                  <a:srgbClr val="E1009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03 · LE SERVEUR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800" y="1297918"/>
            <a:ext cx="10883392" cy="500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40"/>
              </a:lnSpc>
              <a:buNone/>
            </a:pPr>
            <a:r>
              <a:rPr lang="en-US" sz="3400" b="1" dirty="0">
                <a:solidFill>
                  <a:srgbClr val="F2F5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 resolver : une fonction par champ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15975" y="2030016"/>
            <a:ext cx="5162550" cy="2286662"/>
          </a:xfrm>
          <a:prstGeom prst="roundRect">
            <a:avLst>
              <a:gd name="adj" fmla="val 3749"/>
            </a:avLst>
          </a:prstGeom>
          <a:solidFill>
            <a:srgbClr val="1F2D3F"/>
          </a:solidFill>
          <a:ln w="6350">
            <a:solidFill>
              <a:srgbClr val="3347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1020233" y="2208874"/>
            <a:ext cx="4896654" cy="19543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70"/>
              </a:lnSpc>
              <a:buNone/>
            </a:pPr>
            <a:r>
              <a:rPr lang="en-US" sz="1400" dirty="0">
                <a:solidFill>
                  <a:srgbClr val="F2F5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const resolvers = {</a:t>
            </a:r>
            <a:endParaRPr lang="en-US" sz="1400" dirty="0"/>
          </a:p>
          <a:p>
            <a:pPr marL="0" indent="0" algn="l">
              <a:lnSpc>
                <a:spcPts val="2170"/>
              </a:lnSpc>
              <a:buNone/>
            </a:pPr>
            <a:r>
              <a:rPr lang="en-US" sz="1400" dirty="0">
                <a:solidFill>
                  <a:srgbClr val="F2F5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Query: {</a:t>
            </a:r>
            <a:endParaRPr lang="en-US" sz="1400" dirty="0"/>
          </a:p>
          <a:p>
            <a:pPr marL="0" indent="0" algn="l">
              <a:lnSpc>
                <a:spcPts val="2170"/>
              </a:lnSpc>
              <a:buNone/>
            </a:pPr>
            <a:r>
              <a:rPr lang="en-US" sz="1400" dirty="0">
                <a:solidFill>
                  <a:srgbClr val="F2F5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products: () =&gt; Product.find(),</a:t>
            </a:r>
            <a:endParaRPr lang="en-US" sz="1400" dirty="0"/>
          </a:p>
          <a:p>
            <a:pPr marL="0" indent="0" algn="l">
              <a:lnSpc>
                <a:spcPts val="2170"/>
              </a:lnSpc>
              <a:buNone/>
            </a:pPr>
            <a:r>
              <a:rPr lang="en-US" sz="1400" dirty="0">
                <a:solidFill>
                  <a:srgbClr val="F2F5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product: (_, { id }) =&gt;</a:t>
            </a:r>
            <a:endParaRPr lang="en-US" sz="1400" dirty="0"/>
          </a:p>
          <a:p>
            <a:pPr marL="0" indent="0" algn="l">
              <a:lnSpc>
                <a:spcPts val="2170"/>
              </a:lnSpc>
              <a:buNone/>
            </a:pPr>
            <a:r>
              <a:rPr lang="en-US" sz="1400" dirty="0">
                <a:solidFill>
                  <a:srgbClr val="F2F5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  Product.findById(id)</a:t>
            </a:r>
            <a:endParaRPr lang="en-US" sz="1400" dirty="0"/>
          </a:p>
          <a:p>
            <a:pPr marL="0" indent="0" algn="l">
              <a:lnSpc>
                <a:spcPts val="2170"/>
              </a:lnSpc>
              <a:buNone/>
            </a:pPr>
            <a:r>
              <a:rPr lang="en-US" sz="1400" dirty="0">
                <a:solidFill>
                  <a:srgbClr val="F2F5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}</a:t>
            </a:r>
            <a:endParaRPr lang="en-US" sz="1400" dirty="0"/>
          </a:p>
          <a:p>
            <a:pPr marL="0" indent="0" algn="l">
              <a:lnSpc>
                <a:spcPts val="2170"/>
              </a:lnSpc>
              <a:buNone/>
            </a:pPr>
            <a:r>
              <a:rPr lang="en-US" sz="1400" dirty="0">
                <a:solidFill>
                  <a:srgbClr val="F2F5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210300" y="2026841"/>
            <a:ext cx="5323967" cy="2923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3"/>
              </a:lnSpc>
              <a:buNone/>
            </a:pPr>
            <a:r>
              <a:rPr lang="en-US" sz="1450" dirty="0">
                <a:solidFill>
                  <a:srgbClr val="9FB2C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 schéma dit </a:t>
            </a:r>
            <a:r>
              <a:rPr lang="en-US" sz="1450" b="1" dirty="0">
                <a:solidFill>
                  <a:srgbClr val="F2F5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quoi</a:t>
            </a:r>
            <a:r>
              <a:rPr lang="en-US" sz="1450" dirty="0">
                <a:solidFill>
                  <a:srgbClr val="9FB2C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 Les resolvers disent </a:t>
            </a:r>
            <a:r>
              <a:rPr lang="en-US" sz="1450" b="1" dirty="0">
                <a:solidFill>
                  <a:srgbClr val="F2F5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où le trouver</a:t>
            </a:r>
            <a:r>
              <a:rPr lang="en-US" sz="1450" dirty="0">
                <a:solidFill>
                  <a:srgbClr val="9FB2C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210300" y="2395407"/>
            <a:ext cx="532396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9FB2C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Chaque resolver reçoit quatre arguments, dans cet ordre 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3475" y="2766882"/>
            <a:ext cx="5162550" cy="581223"/>
          </a:xfrm>
          <a:prstGeom prst="roundRect">
            <a:avLst>
              <a:gd name="adj" fmla="val 14749"/>
            </a:avLst>
          </a:prstGeom>
          <a:solidFill>
            <a:srgbClr val="1F2D3F"/>
          </a:solidFill>
          <a:ln w="6350">
            <a:solidFill>
              <a:srgbClr val="3347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6392333" y="2920341"/>
            <a:ext cx="4948978" cy="2997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350" dirty="0">
                <a:solidFill>
                  <a:srgbClr val="F2F5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(parent, args, context, info)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210300" y="3452881"/>
            <a:ext cx="5323967" cy="522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58"/>
              </a:lnSpc>
              <a:buNone/>
            </a:pPr>
            <a:r>
              <a:rPr lang="en-US" sz="1350" b="1" dirty="0">
                <a:solidFill>
                  <a:srgbClr val="F2F5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parent</a:t>
            </a:r>
            <a:r>
              <a:rPr lang="en-US" sz="1350" dirty="0">
                <a:solidFill>
                  <a:srgbClr val="9FB2C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: l'objet du niveau au-dessus · </a:t>
            </a:r>
            <a:r>
              <a:rPr lang="en-US" sz="1350" b="1" dirty="0">
                <a:solidFill>
                  <a:srgbClr val="F2F5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args</a:t>
            </a:r>
            <a:r>
              <a:rPr lang="en-US" sz="1350" dirty="0">
                <a:solidFill>
                  <a:srgbClr val="9FB2C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: les arguments · </a:t>
            </a:r>
            <a:r>
              <a:rPr lang="en-US" sz="1350" b="1" dirty="0">
                <a:solidFill>
                  <a:srgbClr val="F2F5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context</a:t>
            </a:r>
            <a:r>
              <a:rPr lang="en-US" sz="1350" dirty="0">
                <a:solidFill>
                  <a:srgbClr val="9FB2C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: ce qui est partagé, par exemple l'utilisateur connecté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FB2C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03 · Le serveur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620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00" dirty="0">
                <a:solidFill>
                  <a:srgbClr val="E1009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03 · LE SERVEUR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800" y="1221718"/>
            <a:ext cx="10883392" cy="500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40"/>
              </a:lnSpc>
              <a:buNone/>
            </a:pPr>
            <a:r>
              <a:rPr lang="en-US" sz="3400" b="1" dirty="0">
                <a:solidFill>
                  <a:srgbClr val="F2F5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Les resolvers s'appellent en cascade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12800" y="1874441"/>
            <a:ext cx="10883392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75"/>
              </a:lnSpc>
              <a:buNone/>
            </a:pPr>
            <a:r>
              <a:rPr lang="en-US" sz="1500" dirty="0">
                <a:solidFill>
                  <a:srgbClr val="9FB2C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Une requête imbriquée déclenche un resolver par champ demandé. Le résultat du niveau au-dessus devient le </a:t>
            </a:r>
            <a:r>
              <a:rPr lang="en-US" sz="1500" b="1" dirty="0">
                <a:solidFill>
                  <a:srgbClr val="F2F5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parent</a:t>
            </a:r>
            <a:r>
              <a:rPr lang="en-US" sz="1500" dirty="0">
                <a:solidFill>
                  <a:srgbClr val="9FB2C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du niveau en dessous. Rien n'est exécuté pour un champ que le client n'a pas demandé.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19150" y="2611041"/>
            <a:ext cx="2295525" cy="826691"/>
          </a:xfrm>
          <a:prstGeom prst="roundRect">
            <a:avLst>
              <a:gd name="adj" fmla="val 11522"/>
            </a:avLst>
          </a:prstGeom>
          <a:solidFill>
            <a:srgbClr val="1F2D3F"/>
          </a:solidFill>
          <a:ln w="12700">
            <a:solidFill>
              <a:srgbClr val="E1009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977900" y="2757091"/>
            <a:ext cx="2037366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50" b="1" dirty="0">
                <a:solidFill>
                  <a:srgbClr val="F2F5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Query.customer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77900" y="3078361"/>
            <a:ext cx="203736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FB2C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Customer.findById(id)</a:t>
            </a:r>
            <a:endParaRPr lang="en-US" sz="1200" dirty="0"/>
          </a:p>
        </p:txBody>
      </p:sp>
      <p:pic>
        <p:nvPicPr>
          <p:cNvPr id="8" name="Image 0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197225" y="2951361"/>
            <a:ext cx="292100" cy="14605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3571875" y="2611041"/>
            <a:ext cx="2295525" cy="826691"/>
          </a:xfrm>
          <a:prstGeom prst="roundRect">
            <a:avLst>
              <a:gd name="adj" fmla="val 11522"/>
            </a:avLst>
          </a:prstGeom>
          <a:solidFill>
            <a:srgbClr val="1F2D3F"/>
          </a:solidFill>
          <a:ln w="12700">
            <a:solidFill>
              <a:srgbClr val="E1009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7"/>
          <p:cNvSpPr/>
          <p:nvPr/>
        </p:nvSpPr>
        <p:spPr>
          <a:xfrm>
            <a:off x="3730625" y="2757091"/>
            <a:ext cx="2037366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50" b="1" dirty="0">
                <a:solidFill>
                  <a:srgbClr val="F2F5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Customer.orders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3730625" y="3078361"/>
            <a:ext cx="203736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FB2C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Order.find(customer)</a:t>
            </a:r>
            <a:endParaRPr lang="en-US" sz="1200" dirty="0"/>
          </a:p>
        </p:txBody>
      </p:sp>
      <p:pic>
        <p:nvPicPr>
          <p:cNvPr id="12" name="Image 1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49950" y="2951361"/>
            <a:ext cx="292100" cy="14605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324600" y="2611041"/>
            <a:ext cx="2295525" cy="826691"/>
          </a:xfrm>
          <a:prstGeom prst="roundRect">
            <a:avLst>
              <a:gd name="adj" fmla="val 11522"/>
            </a:avLst>
          </a:prstGeom>
          <a:solidFill>
            <a:srgbClr val="1F2D3F"/>
          </a:solidFill>
          <a:ln w="12700">
            <a:solidFill>
              <a:srgbClr val="E1009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0"/>
          <p:cNvSpPr/>
          <p:nvPr/>
        </p:nvSpPr>
        <p:spPr>
          <a:xfrm>
            <a:off x="6483350" y="2757091"/>
            <a:ext cx="2037366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50" b="1" dirty="0">
                <a:solidFill>
                  <a:srgbClr val="F2F5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OrderItem.product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6483350" y="3078361"/>
            <a:ext cx="203736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FB2C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Product.findById(...)</a:t>
            </a:r>
            <a:endParaRPr lang="en-US" sz="1200" dirty="0"/>
          </a:p>
        </p:txBody>
      </p:sp>
      <p:pic>
        <p:nvPicPr>
          <p:cNvPr id="16" name="Image 2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702675" y="2951361"/>
            <a:ext cx="292100" cy="14605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9077325" y="2611041"/>
            <a:ext cx="2295525" cy="826691"/>
          </a:xfrm>
          <a:prstGeom prst="roundRect">
            <a:avLst>
              <a:gd name="adj" fmla="val 11522"/>
            </a:avLst>
          </a:prstGeom>
          <a:solidFill>
            <a:srgbClr val="1F2D3F"/>
          </a:solidFill>
          <a:ln w="12700">
            <a:solidFill>
              <a:srgbClr val="E1009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8" name="Text 13"/>
          <p:cNvSpPr/>
          <p:nvPr/>
        </p:nvSpPr>
        <p:spPr>
          <a:xfrm>
            <a:off x="9236075" y="2757091"/>
            <a:ext cx="2037366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50" b="1" dirty="0">
                <a:solidFill>
                  <a:srgbClr val="F2F5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Order.total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9236075" y="3078361"/>
            <a:ext cx="203736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FB2C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somme(prix × qté)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812800" y="3621881"/>
            <a:ext cx="10883392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dirty="0">
                <a:solidFill>
                  <a:srgbClr val="9FB2C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Quatre champs demandés, quatre resolvers exécutés, dans cet ordre. Retirez un champ de la requête : son resolver ne part jamais.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FB2C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03 · Le serveur · exercice 3 du TP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00" dirty="0">
                <a:solidFill>
                  <a:srgbClr val="E1009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03 · LE SERVEUR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800" y="1297918"/>
            <a:ext cx="10883392" cy="500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40"/>
              </a:lnSpc>
              <a:buNone/>
            </a:pPr>
            <a:r>
              <a:rPr lang="en-US" sz="3400" b="1" dirty="0">
                <a:solidFill>
                  <a:srgbClr val="16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Qui fait quoi dans votre projet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15975" y="2030016"/>
            <a:ext cx="2511425" cy="1847387"/>
          </a:xfrm>
          <a:prstGeom prst="roundRect">
            <a:avLst>
              <a:gd name="adj" fmla="val 6015"/>
            </a:avLst>
          </a:prstGeom>
          <a:solidFill>
            <a:srgbClr val="FFFFFF"/>
          </a:solidFill>
          <a:ln w="6350">
            <a:solidFill>
              <a:srgbClr val="E2E7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994833" y="2196182"/>
            <a:ext cx="221832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1009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schema.js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94833" y="2490788"/>
            <a:ext cx="2218320" cy="2616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550" b="1" dirty="0">
                <a:solidFill>
                  <a:srgbClr val="16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GraphQL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994833" y="2790503"/>
            <a:ext cx="2218320" cy="946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13"/>
              </a:lnSpc>
              <a:buNone/>
            </a:pPr>
            <a:r>
              <a:rPr lang="en-US" sz="1250" dirty="0">
                <a:solidFill>
                  <a:srgbClr val="5A6B7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Décrit les types exposés au client. C'est la vitrine : ce que le monde extérieur a le droit de voir.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498850" y="2030016"/>
            <a:ext cx="2511425" cy="1847387"/>
          </a:xfrm>
          <a:prstGeom prst="roundRect">
            <a:avLst>
              <a:gd name="adj" fmla="val 6015"/>
            </a:avLst>
          </a:prstGeom>
          <a:solidFill>
            <a:srgbClr val="FFFFFF"/>
          </a:solidFill>
          <a:ln w="6350">
            <a:solidFill>
              <a:srgbClr val="E2E7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3677708" y="2196182"/>
            <a:ext cx="221832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1009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resolvers.js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77708" y="2490788"/>
            <a:ext cx="2218320" cy="2616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550" b="1" dirty="0">
                <a:solidFill>
                  <a:srgbClr val="16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 traduction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3677708" y="2790503"/>
            <a:ext cx="2218320" cy="946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13"/>
              </a:lnSpc>
              <a:buNone/>
            </a:pPr>
            <a:r>
              <a:rPr lang="en-US" sz="1250" dirty="0">
                <a:solidFill>
                  <a:srgbClr val="5A6B7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Transforme un champ GraphQL en appel Mongoose, applique les règles métier et les validations.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81725" y="2030016"/>
            <a:ext cx="2511425" cy="1847387"/>
          </a:xfrm>
          <a:prstGeom prst="roundRect">
            <a:avLst>
              <a:gd name="adj" fmla="val 6015"/>
            </a:avLst>
          </a:prstGeom>
          <a:solidFill>
            <a:srgbClr val="FFFFFF"/>
          </a:solidFill>
          <a:ln w="6350">
            <a:solidFill>
              <a:srgbClr val="E2E7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6360583" y="2196182"/>
            <a:ext cx="221832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1009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models/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60583" y="2490788"/>
            <a:ext cx="2218320" cy="2616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550" b="1" dirty="0">
                <a:solidFill>
                  <a:srgbClr val="16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Mongoose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360583" y="2790503"/>
            <a:ext cx="2218320" cy="946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13"/>
              </a:lnSpc>
              <a:buNone/>
            </a:pPr>
            <a:r>
              <a:rPr lang="en-US" sz="1250" dirty="0">
                <a:solidFill>
                  <a:srgbClr val="5A6B7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Décrit les documents stockés. C'est l'arrière-boutique : index, types BSON, contraintes d'unicité.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864600" y="2030016"/>
            <a:ext cx="2511425" cy="1847387"/>
          </a:xfrm>
          <a:prstGeom prst="roundRect">
            <a:avLst>
              <a:gd name="adj" fmla="val 6015"/>
            </a:avLst>
          </a:prstGeom>
          <a:solidFill>
            <a:srgbClr val="FFFFFF"/>
          </a:solidFill>
          <a:ln w="6350">
            <a:solidFill>
              <a:srgbClr val="E2E7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9043459" y="2196182"/>
            <a:ext cx="221832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1009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MongoDB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043459" y="2490788"/>
            <a:ext cx="2218320" cy="2616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550" b="1" dirty="0">
                <a:solidFill>
                  <a:srgbClr val="16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Les données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9043459" y="2790503"/>
            <a:ext cx="2218320" cy="946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13"/>
              </a:lnSpc>
              <a:buNone/>
            </a:pPr>
            <a:r>
              <a:rPr lang="en-US" sz="1250" dirty="0">
                <a:solidFill>
                  <a:srgbClr val="5A6B7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Collections products, customers, orders. GraphQL ne la remplace pas et ne la connaît même pas.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A6B7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03 · Le serveur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494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74"/>
              </a:lnSpc>
              <a:buNone/>
            </a:pPr>
            <a:r>
              <a:rPr lang="en-US" sz="1268" b="1" kern="0" spc="100" dirty="0">
                <a:solidFill>
                  <a:srgbClr val="E1009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03 · LE SERVEUR</a:t>
            </a:r>
            <a:endParaRPr lang="en-US" sz="1268" dirty="0"/>
          </a:p>
        </p:txBody>
      </p:sp>
      <p:sp>
        <p:nvSpPr>
          <p:cNvPr id="3" name="Text 1"/>
          <p:cNvSpPr/>
          <p:nvPr/>
        </p:nvSpPr>
        <p:spPr>
          <a:xfrm>
            <a:off x="812800" y="1290836"/>
            <a:ext cx="10883392" cy="4859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70"/>
              </a:lnSpc>
              <a:buNone/>
            </a:pPr>
            <a:r>
              <a:rPr lang="en-US" sz="3336" b="1" dirty="0">
                <a:solidFill>
                  <a:srgbClr val="16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Les erreurs : 200 OK, et pourtant</a:t>
            </a:r>
            <a:endParaRPr lang="en-US" sz="3336" dirty="0"/>
          </a:p>
        </p:txBody>
      </p:sp>
      <p:sp>
        <p:nvSpPr>
          <p:cNvPr id="4" name="Shape 2"/>
          <p:cNvSpPr/>
          <p:nvPr/>
        </p:nvSpPr>
        <p:spPr>
          <a:xfrm>
            <a:off x="815975" y="2008584"/>
            <a:ext cx="5162550" cy="2483379"/>
          </a:xfrm>
          <a:prstGeom prst="roundRect">
            <a:avLst>
              <a:gd name="adj" fmla="val 3452"/>
            </a:avLst>
          </a:prstGeom>
          <a:solidFill>
            <a:srgbClr val="1F2D3F"/>
          </a:solidFill>
          <a:ln w="6350">
            <a:solidFill>
              <a:srgbClr val="3347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1020233" y="2187443"/>
            <a:ext cx="4896654" cy="21510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93"/>
              </a:lnSpc>
              <a:buNone/>
            </a:pPr>
            <a:r>
              <a:rPr lang="en-US" sz="1350" dirty="0">
                <a:solidFill>
                  <a:srgbClr val="F2F5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{</a:t>
            </a:r>
            <a:endParaRPr lang="en-US" sz="1350" dirty="0"/>
          </a:p>
          <a:p>
            <a:pPr marL="0" indent="0" algn="l">
              <a:lnSpc>
                <a:spcPts val="2093"/>
              </a:lnSpc>
              <a:buNone/>
            </a:pPr>
            <a:r>
              <a:rPr lang="en-US" sz="1350" dirty="0">
                <a:solidFill>
                  <a:srgbClr val="F2F5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"data": { "product": null },</a:t>
            </a:r>
            <a:endParaRPr lang="en-US" sz="1350" dirty="0"/>
          </a:p>
          <a:p>
            <a:pPr marL="0" indent="0" algn="l">
              <a:lnSpc>
                <a:spcPts val="2093"/>
              </a:lnSpc>
              <a:buNone/>
            </a:pPr>
            <a:r>
              <a:rPr lang="en-US" sz="1350" dirty="0">
                <a:solidFill>
                  <a:srgbClr val="F2F5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"errors": [{</a:t>
            </a:r>
            <a:endParaRPr lang="en-US" sz="1350" dirty="0"/>
          </a:p>
          <a:p>
            <a:pPr marL="0" indent="0" algn="l">
              <a:lnSpc>
                <a:spcPts val="2093"/>
              </a:lnSpc>
              <a:buNone/>
            </a:pPr>
            <a:r>
              <a:rPr lang="en-US" sz="1350" dirty="0">
                <a:solidFill>
                  <a:srgbClr val="F2F5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"message": "Produit introuvable",</a:t>
            </a:r>
            <a:endParaRPr lang="en-US" sz="1350" dirty="0"/>
          </a:p>
          <a:p>
            <a:pPr marL="0" indent="0" algn="l">
              <a:lnSpc>
                <a:spcPts val="2093"/>
              </a:lnSpc>
              <a:buNone/>
            </a:pPr>
            <a:r>
              <a:rPr lang="en-US" sz="1350" dirty="0">
                <a:solidFill>
                  <a:srgbClr val="F2F5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"path": ["product"],</a:t>
            </a:r>
            <a:endParaRPr lang="en-US" sz="1350" dirty="0"/>
          </a:p>
          <a:p>
            <a:pPr marL="0" indent="0" algn="l">
              <a:lnSpc>
                <a:spcPts val="2093"/>
              </a:lnSpc>
              <a:buNone/>
            </a:pPr>
            <a:r>
              <a:rPr lang="en-US" sz="1350" dirty="0">
                <a:solidFill>
                  <a:srgbClr val="F2F5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  "extensions": { "code": "NOT_FOUND" }</a:t>
            </a:r>
            <a:endParaRPr lang="en-US" sz="1350" dirty="0"/>
          </a:p>
          <a:p>
            <a:pPr marL="0" indent="0" algn="l">
              <a:lnSpc>
                <a:spcPts val="2093"/>
              </a:lnSpc>
              <a:buNone/>
            </a:pPr>
            <a:r>
              <a:rPr lang="en-US" sz="1350" dirty="0">
                <a:solidFill>
                  <a:srgbClr val="F2F5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  }]</a:t>
            </a:r>
            <a:endParaRPr lang="en-US" sz="1350" dirty="0"/>
          </a:p>
          <a:p>
            <a:pPr marL="0" indent="0" algn="l">
              <a:lnSpc>
                <a:spcPts val="2093"/>
              </a:lnSpc>
              <a:buNone/>
            </a:pPr>
            <a:r>
              <a:rPr lang="en-US" sz="1350" dirty="0">
                <a:solidFill>
                  <a:srgbClr val="F2F5F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}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213475" y="2008584"/>
            <a:ext cx="5162550" cy="1120114"/>
          </a:xfrm>
          <a:prstGeom prst="roundRect">
            <a:avLst>
              <a:gd name="adj" fmla="val 9921"/>
            </a:avLst>
          </a:prstGeom>
          <a:solidFill>
            <a:srgbClr val="FFFFFF"/>
          </a:solidFill>
          <a:ln w="6350">
            <a:solidFill>
              <a:srgbClr val="E2E7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6405033" y="2187451"/>
            <a:ext cx="4922816" cy="256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4"/>
              </a:lnSpc>
              <a:buNone/>
            </a:pPr>
            <a:r>
              <a:rPr lang="en-US" sz="1520" b="1" dirty="0">
                <a:solidFill>
                  <a:srgbClr val="16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 transport et le métier sont séparés</a:t>
            </a:r>
            <a:endParaRPr lang="en-US" sz="1520" dirty="0"/>
          </a:p>
        </p:txBody>
      </p:sp>
      <p:sp>
        <p:nvSpPr>
          <p:cNvPr id="8" name="Text 6"/>
          <p:cNvSpPr/>
          <p:nvPr/>
        </p:nvSpPr>
        <p:spPr>
          <a:xfrm>
            <a:off x="6405033" y="2495153"/>
            <a:ext cx="4922816" cy="480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8"/>
              </a:lnSpc>
              <a:buNone/>
            </a:pPr>
            <a:r>
              <a:rPr lang="en-US" sz="1247" dirty="0">
                <a:solidFill>
                  <a:srgbClr val="5A6B7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 code HTTP dit si la requête est arrivée. Le tableau </a:t>
            </a:r>
            <a:r>
              <a:rPr lang="en-US" sz="1247" b="1" dirty="0">
                <a:solidFill>
                  <a:srgbClr val="5A6B7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errors</a:t>
            </a:r>
            <a:r>
              <a:rPr lang="en-US" sz="1247" dirty="0">
                <a:solidFill>
                  <a:srgbClr val="5A6B7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dit ce qui s'est mal passé dans le métier.</a:t>
            </a:r>
            <a:endParaRPr lang="en-US" sz="1247" dirty="0"/>
          </a:p>
        </p:txBody>
      </p:sp>
      <p:sp>
        <p:nvSpPr>
          <p:cNvPr id="9" name="Shape 7"/>
          <p:cNvSpPr/>
          <p:nvPr/>
        </p:nvSpPr>
        <p:spPr>
          <a:xfrm>
            <a:off x="6213475" y="3249352"/>
            <a:ext cx="5162550" cy="1348714"/>
          </a:xfrm>
          <a:prstGeom prst="roundRect">
            <a:avLst>
              <a:gd name="adj" fmla="val 8239"/>
            </a:avLst>
          </a:prstGeom>
          <a:solidFill>
            <a:srgbClr val="FFFFFF"/>
          </a:solidFill>
          <a:ln w="6350">
            <a:solidFill>
              <a:srgbClr val="E2E7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6405033" y="3428206"/>
            <a:ext cx="4922816" cy="257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2"/>
              </a:lnSpc>
              <a:buNone/>
            </a:pPr>
            <a:r>
              <a:rPr lang="en-US" sz="1560" b="1" dirty="0">
                <a:solidFill>
                  <a:srgbClr val="16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Réponse partielle</a:t>
            </a:r>
            <a:endParaRPr lang="en-US" sz="1560" dirty="0"/>
          </a:p>
        </p:txBody>
      </p:sp>
      <p:sp>
        <p:nvSpPr>
          <p:cNvPr id="11" name="Text 9"/>
          <p:cNvSpPr/>
          <p:nvPr/>
        </p:nvSpPr>
        <p:spPr>
          <a:xfrm>
            <a:off x="6405033" y="3736256"/>
            <a:ext cx="4922816" cy="7083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3"/>
              </a:lnSpc>
              <a:buNone/>
            </a:pPr>
            <a:r>
              <a:rPr lang="en-US" sz="1243" dirty="0">
                <a:solidFill>
                  <a:srgbClr val="5A6B7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 trois champs sur quatre ont réussi, vous recevez les trois, plus une erreur pour le quatrième. C'est une force, et un piège si le client ne la lit pas.</a:t>
            </a:r>
            <a:endParaRPr lang="en-US" sz="1243" dirty="0"/>
          </a:p>
        </p:txBody>
      </p:sp>
      <p:sp>
        <p:nvSpPr>
          <p:cNvPr id="12" name="Shape 10"/>
          <p:cNvSpPr/>
          <p:nvPr/>
        </p:nvSpPr>
        <p:spPr>
          <a:xfrm>
            <a:off x="6213475" y="4718720"/>
            <a:ext cx="5162550" cy="1120114"/>
          </a:xfrm>
          <a:prstGeom prst="roundRect">
            <a:avLst>
              <a:gd name="adj" fmla="val 9921"/>
            </a:avLst>
          </a:prstGeom>
          <a:solidFill>
            <a:srgbClr val="FFFFFF"/>
          </a:solidFill>
          <a:ln w="6350">
            <a:solidFill>
              <a:srgbClr val="E2E7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6405033" y="4897574"/>
            <a:ext cx="4922816" cy="2569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4"/>
              </a:lnSpc>
              <a:buNone/>
            </a:pPr>
            <a:r>
              <a:rPr lang="en-US" sz="1520" b="1" dirty="0">
                <a:solidFill>
                  <a:srgbClr val="16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Dans le TP</a:t>
            </a:r>
            <a:endParaRPr lang="en-US" sz="1520" dirty="0"/>
          </a:p>
        </p:txBody>
      </p:sp>
      <p:sp>
        <p:nvSpPr>
          <p:cNvPr id="14" name="Text 12"/>
          <p:cNvSpPr/>
          <p:nvPr/>
        </p:nvSpPr>
        <p:spPr>
          <a:xfrm>
            <a:off x="6405033" y="5205288"/>
            <a:ext cx="4922816" cy="4800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8"/>
              </a:lnSpc>
              <a:buNone/>
            </a:pPr>
            <a:r>
              <a:rPr lang="en-US" sz="1247" dirty="0">
                <a:solidFill>
                  <a:srgbClr val="5A6B7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Utilisez </a:t>
            </a:r>
            <a:r>
              <a:rPr lang="en-US" sz="1247" b="1" dirty="0">
                <a:solidFill>
                  <a:srgbClr val="5A6B7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GraphQLError</a:t>
            </a:r>
            <a:r>
              <a:rPr lang="en-US" sz="1247" dirty="0">
                <a:solidFill>
                  <a:srgbClr val="5A6B7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avec un code dans </a:t>
            </a:r>
            <a:r>
              <a:rPr lang="en-US" sz="1247" b="1" dirty="0">
                <a:solidFill>
                  <a:srgbClr val="5A6B7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extensions</a:t>
            </a:r>
            <a:r>
              <a:rPr lang="en-US" sz="1247" dirty="0">
                <a:solidFill>
                  <a:srgbClr val="5A6B7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: prix négatif, stock insuffisant, identifiant inconnu.</a:t>
            </a:r>
            <a:endParaRPr lang="en-US" sz="1247" dirty="0"/>
          </a:p>
        </p:txBody>
      </p:sp>
      <p:sp>
        <p:nvSpPr>
          <p:cNvPr id="15" name="Text 13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A6B7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03 · Le serveur · exercice 2 du TP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00" dirty="0">
                <a:solidFill>
                  <a:srgbClr val="E1009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04 · LE RECUL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800" y="1297918"/>
            <a:ext cx="10883392" cy="500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40"/>
              </a:lnSpc>
              <a:buNone/>
            </a:pPr>
            <a:r>
              <a:rPr lang="en-US" sz="3400" b="1" dirty="0">
                <a:solidFill>
                  <a:srgbClr val="16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Ce que GraphQL vous apporte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15975" y="2030016"/>
            <a:ext cx="3422650" cy="1294606"/>
          </a:xfrm>
          <a:prstGeom prst="roundRect">
            <a:avLst>
              <a:gd name="adj" fmla="val 7603"/>
            </a:avLst>
          </a:prstGeom>
          <a:solidFill>
            <a:srgbClr val="FFFFFF"/>
          </a:solidFill>
          <a:ln w="6350">
            <a:solidFill>
              <a:srgbClr val="E2E7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982133" y="2183482"/>
            <a:ext cx="3183043" cy="246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450" b="1" dirty="0">
                <a:solidFill>
                  <a:srgbClr val="16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 client décide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982133" y="2480605"/>
            <a:ext cx="3183043" cy="7159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13"/>
              </a:lnSpc>
              <a:buNone/>
            </a:pPr>
            <a:r>
              <a:rPr lang="en-US" sz="1250" dirty="0">
                <a:solidFill>
                  <a:srgbClr val="5A6B7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Une seule requête rapporte exactement les champs de l'écran, quelle que soit leur profondeur.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84675" y="2030016"/>
            <a:ext cx="3422650" cy="1294606"/>
          </a:xfrm>
          <a:prstGeom prst="roundRect">
            <a:avLst>
              <a:gd name="adj" fmla="val 7603"/>
            </a:avLst>
          </a:prstGeom>
          <a:solidFill>
            <a:srgbClr val="FFFFFF"/>
          </a:solidFill>
          <a:ln w="6350">
            <a:solidFill>
              <a:srgbClr val="E2E7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4550833" y="2183482"/>
            <a:ext cx="3183043" cy="246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450" b="1" dirty="0">
                <a:solidFill>
                  <a:srgbClr val="16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 schéma typé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550833" y="2480605"/>
            <a:ext cx="3183043" cy="7159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13"/>
              </a:lnSpc>
              <a:buNone/>
            </a:pPr>
            <a:r>
              <a:rPr lang="en-US" sz="1250" dirty="0">
                <a:solidFill>
                  <a:srgbClr val="5A6B7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Erreurs détectées avant l'exécution, autocomplétion, documentation toujours à jour.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953375" y="2030016"/>
            <a:ext cx="3422650" cy="1294606"/>
          </a:xfrm>
          <a:prstGeom prst="roundRect">
            <a:avLst>
              <a:gd name="adj" fmla="val 7603"/>
            </a:avLst>
          </a:prstGeom>
          <a:solidFill>
            <a:srgbClr val="FFFFFF"/>
          </a:solidFill>
          <a:ln w="6350">
            <a:solidFill>
              <a:srgbClr val="E2E7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8119534" y="2183482"/>
            <a:ext cx="3183043" cy="246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450" b="1" dirty="0">
                <a:solidFill>
                  <a:srgbClr val="16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Moins d'allers-retours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119534" y="2480605"/>
            <a:ext cx="3183043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13"/>
              </a:lnSpc>
              <a:buNone/>
            </a:pPr>
            <a:r>
              <a:rPr lang="en-US" sz="1250" dirty="0">
                <a:solidFill>
                  <a:srgbClr val="5A6B7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 écran complexe tient souvent en une requête au lieu de quatre ou cinq.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5975" y="3470672"/>
            <a:ext cx="3422650" cy="1064419"/>
          </a:xfrm>
          <a:prstGeom prst="roundRect">
            <a:avLst>
              <a:gd name="adj" fmla="val 9247"/>
            </a:avLst>
          </a:prstGeom>
          <a:solidFill>
            <a:srgbClr val="FFFFFF"/>
          </a:solidFill>
          <a:ln w="6350">
            <a:solidFill>
              <a:srgbClr val="E2E7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982133" y="3624138"/>
            <a:ext cx="3183043" cy="246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450" b="1" dirty="0">
                <a:solidFill>
                  <a:srgbClr val="16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Évolution sans version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982133" y="3921261"/>
            <a:ext cx="3183043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13"/>
              </a:lnSpc>
              <a:buNone/>
            </a:pPr>
            <a:r>
              <a:rPr lang="en-US" sz="1250" dirty="0">
                <a:solidFill>
                  <a:srgbClr val="5A6B7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 ajoute des champs sans rien casser ; on déprécie au lieu de publier une /v2.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384675" y="3470672"/>
            <a:ext cx="3422650" cy="1064419"/>
          </a:xfrm>
          <a:prstGeom prst="roundRect">
            <a:avLst>
              <a:gd name="adj" fmla="val 9247"/>
            </a:avLst>
          </a:prstGeom>
          <a:solidFill>
            <a:srgbClr val="FFFFFF"/>
          </a:solidFill>
          <a:ln w="6350">
            <a:solidFill>
              <a:srgbClr val="E2E7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4550833" y="3624138"/>
            <a:ext cx="3183043" cy="246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450" b="1" dirty="0">
                <a:solidFill>
                  <a:srgbClr val="16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 seul contrat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550833" y="3921261"/>
            <a:ext cx="3183043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13"/>
              </a:lnSpc>
              <a:buNone/>
            </a:pPr>
            <a:r>
              <a:rPr lang="en-US" sz="1250" dirty="0">
                <a:solidFill>
                  <a:srgbClr val="5A6B7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Web, mobile et partenaires consomment la même API avec des besoins différents.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953375" y="3470672"/>
            <a:ext cx="3422650" cy="1064419"/>
          </a:xfrm>
          <a:prstGeom prst="roundRect">
            <a:avLst>
              <a:gd name="adj" fmla="val 9247"/>
            </a:avLst>
          </a:prstGeom>
          <a:solidFill>
            <a:srgbClr val="FFFFFF"/>
          </a:solidFill>
          <a:ln w="6350">
            <a:solidFill>
              <a:srgbClr val="E2E7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8119534" y="3624138"/>
            <a:ext cx="3183043" cy="246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450" b="1" dirty="0">
                <a:solidFill>
                  <a:srgbClr val="16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Outillage riche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119534" y="3921261"/>
            <a:ext cx="3183043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13"/>
              </a:lnSpc>
              <a:buNone/>
            </a:pPr>
            <a:r>
              <a:rPr lang="en-US" sz="1250" dirty="0">
                <a:solidFill>
                  <a:srgbClr val="5A6B7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Sandbox, génération de types TypeScript, analyse des champs réellement utilisés.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A6B7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04 · Le recul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620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00" dirty="0">
                <a:solidFill>
                  <a:srgbClr val="E1009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04 · LE RECUL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800" y="1297918"/>
            <a:ext cx="10883392" cy="500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40"/>
              </a:lnSpc>
              <a:buNone/>
            </a:pPr>
            <a:r>
              <a:rPr lang="en-US" sz="3400" b="1" dirty="0">
                <a:solidFill>
                  <a:srgbClr val="F2F5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Ce que GraphQL vous coûte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15975" y="2030016"/>
            <a:ext cx="3422650" cy="1294606"/>
          </a:xfrm>
          <a:prstGeom prst="roundRect">
            <a:avLst>
              <a:gd name="adj" fmla="val 7603"/>
            </a:avLst>
          </a:prstGeom>
          <a:solidFill>
            <a:srgbClr val="1F2D3F"/>
          </a:solidFill>
          <a:ln w="6350">
            <a:solidFill>
              <a:srgbClr val="3347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982133" y="2183482"/>
            <a:ext cx="3183043" cy="246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450" b="1" dirty="0">
                <a:solidFill>
                  <a:srgbClr val="F2F5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 problème N+1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982133" y="2480605"/>
            <a:ext cx="3183043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13"/>
              </a:lnSpc>
              <a:buNone/>
            </a:pPr>
            <a:r>
              <a:rPr lang="en-US" sz="1250" dirty="0">
                <a:solidFill>
                  <a:srgbClr val="9FB2C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Une requête imbriquée peut déclencher des dizaines d'allers-retours vers la base.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384675" y="2030016"/>
            <a:ext cx="3422650" cy="1294606"/>
          </a:xfrm>
          <a:prstGeom prst="roundRect">
            <a:avLst>
              <a:gd name="adj" fmla="val 7603"/>
            </a:avLst>
          </a:prstGeom>
          <a:solidFill>
            <a:srgbClr val="1F2D3F"/>
          </a:solidFill>
          <a:ln w="6350">
            <a:solidFill>
              <a:srgbClr val="3347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4550833" y="2183482"/>
            <a:ext cx="3183043" cy="246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450" b="1" dirty="0">
                <a:solidFill>
                  <a:srgbClr val="F2F5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Cache HTTP perdu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550833" y="2480605"/>
            <a:ext cx="3183043" cy="7159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13"/>
              </a:lnSpc>
              <a:buNone/>
            </a:pPr>
            <a:r>
              <a:rPr lang="en-US" sz="1250" dirty="0">
                <a:solidFill>
                  <a:srgbClr val="9FB2C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Tout passe en POST sur une seule URL : plus de cache navigateur ni de CDN gratuits.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953375" y="2030016"/>
            <a:ext cx="3422650" cy="1294606"/>
          </a:xfrm>
          <a:prstGeom prst="roundRect">
            <a:avLst>
              <a:gd name="adj" fmla="val 7603"/>
            </a:avLst>
          </a:prstGeom>
          <a:solidFill>
            <a:srgbClr val="1F2D3F"/>
          </a:solidFill>
          <a:ln w="6350">
            <a:solidFill>
              <a:srgbClr val="3347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8119534" y="2183482"/>
            <a:ext cx="3183043" cy="246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450" b="1" dirty="0">
                <a:solidFill>
                  <a:srgbClr val="F2F5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Requêtes coûteuses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119534" y="2480605"/>
            <a:ext cx="3183043" cy="7159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13"/>
              </a:lnSpc>
              <a:buNone/>
            </a:pPr>
            <a:r>
              <a:rPr lang="en-US" sz="1250" dirty="0">
                <a:solidFill>
                  <a:srgbClr val="9FB2C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 client peut demander un graphe profond et saturer le serveur. Il faut limiter la profondeur.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5975" y="3470672"/>
            <a:ext cx="3422650" cy="1294606"/>
          </a:xfrm>
          <a:prstGeom prst="roundRect">
            <a:avLst>
              <a:gd name="adj" fmla="val 7603"/>
            </a:avLst>
          </a:prstGeom>
          <a:solidFill>
            <a:srgbClr val="1F2D3F"/>
          </a:solidFill>
          <a:ln w="6350">
            <a:solidFill>
              <a:srgbClr val="3347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982133" y="3624138"/>
            <a:ext cx="3183043" cy="246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450" b="1" dirty="0">
                <a:solidFill>
                  <a:srgbClr val="F2F5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Complexité de mise en place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982133" y="3921261"/>
            <a:ext cx="3183043" cy="7159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13"/>
              </a:lnSpc>
              <a:buNone/>
            </a:pPr>
            <a:r>
              <a:rPr lang="en-US" sz="1250" dirty="0">
                <a:solidFill>
                  <a:srgbClr val="9FB2C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Schéma, resolvers, DataLoader, contexte : plus de code qu'un simple GET pour une petite API.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384675" y="3470672"/>
            <a:ext cx="3422650" cy="1294606"/>
          </a:xfrm>
          <a:prstGeom prst="roundRect">
            <a:avLst>
              <a:gd name="adj" fmla="val 7603"/>
            </a:avLst>
          </a:prstGeom>
          <a:solidFill>
            <a:srgbClr val="1F2D3F"/>
          </a:solidFill>
          <a:ln w="6350">
            <a:solidFill>
              <a:srgbClr val="3347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4550833" y="3624138"/>
            <a:ext cx="3183043" cy="246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450" b="1" dirty="0">
                <a:solidFill>
                  <a:srgbClr val="F2F5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Fichiers et binaires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4550833" y="3921261"/>
            <a:ext cx="3183043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13"/>
              </a:lnSpc>
              <a:buNone/>
            </a:pPr>
            <a:r>
              <a:rPr lang="en-US" sz="1250" dirty="0">
                <a:solidFill>
                  <a:srgbClr val="9FB2C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L'upload n'est pas dans la spécification ; il passe par une extension ou reste en REST.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953375" y="3470672"/>
            <a:ext cx="3422650" cy="1294606"/>
          </a:xfrm>
          <a:prstGeom prst="roundRect">
            <a:avLst>
              <a:gd name="adj" fmla="val 7603"/>
            </a:avLst>
          </a:prstGeom>
          <a:solidFill>
            <a:srgbClr val="1F2D3F"/>
          </a:solidFill>
          <a:ln w="6350">
            <a:solidFill>
              <a:srgbClr val="3347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8119534" y="3624138"/>
            <a:ext cx="3183043" cy="246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40"/>
              </a:lnSpc>
              <a:buNone/>
            </a:pPr>
            <a:r>
              <a:rPr lang="en-US" sz="1450" b="1" dirty="0">
                <a:solidFill>
                  <a:srgbClr val="F2F5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Observabilité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119534" y="3921261"/>
            <a:ext cx="3183043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13"/>
              </a:lnSpc>
              <a:buNone/>
            </a:pPr>
            <a:r>
              <a:rPr lang="en-US" sz="1250" dirty="0">
                <a:solidFill>
                  <a:srgbClr val="9FB2C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Tout est POST /graphql : les métriques et les logs par URL ne servent plus à rien.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FB2C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Aucune de ces limites n'est rédhibitoire, mais chacune demande une décision d'architecture.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00" dirty="0">
                <a:solidFill>
                  <a:srgbClr val="E1009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04 · LE RECUL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800" y="1209018"/>
            <a:ext cx="10883392" cy="500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40"/>
              </a:lnSpc>
              <a:buNone/>
            </a:pPr>
            <a:r>
              <a:rPr lang="en-US" sz="3400" b="1" dirty="0">
                <a:solidFill>
                  <a:srgbClr val="16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 problème N+1, en une image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12800" y="1849041"/>
            <a:ext cx="10883392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75"/>
              </a:lnSpc>
              <a:buNone/>
            </a:pPr>
            <a:r>
              <a:rPr lang="en-US" sz="1500" dirty="0">
                <a:solidFill>
                  <a:srgbClr val="16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 resolver OrderItem.product est appelé une fois par ligne de commande. Chaque appel est une requête MongoDB de plus.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15975" y="2441575"/>
            <a:ext cx="5073650" cy="2595364"/>
          </a:xfrm>
          <a:prstGeom prst="roundRect">
            <a:avLst>
              <a:gd name="adj" fmla="val 4282"/>
            </a:avLst>
          </a:prstGeom>
          <a:solidFill>
            <a:srgbClr val="FFFFFF"/>
          </a:solidFill>
          <a:ln w="6350">
            <a:solidFill>
              <a:srgbClr val="E2E7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6" name="Text 4"/>
          <p:cNvSpPr/>
          <p:nvPr/>
        </p:nvSpPr>
        <p:spPr>
          <a:xfrm>
            <a:off x="1020233" y="2620442"/>
            <a:ext cx="480508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kern="0" spc="100" dirty="0">
                <a:solidFill>
                  <a:srgbClr val="5A6B7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UNE COMMANDE DE 10 LIGNES, SANS DATALOADER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20233" y="2935362"/>
            <a:ext cx="4805087" cy="64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840"/>
              </a:lnSpc>
              <a:buNone/>
            </a:pPr>
            <a:r>
              <a:rPr lang="en-US" sz="4400" b="1" dirty="0">
                <a:solidFill>
                  <a:srgbClr val="E1009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 + 10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1020233" y="3651585"/>
            <a:ext cx="444500" cy="660400"/>
          </a:xfrm>
          <a:prstGeom prst="roundRect">
            <a:avLst>
              <a:gd name="adj" fmla="val 7143"/>
            </a:avLst>
          </a:prstGeom>
          <a:solidFill>
            <a:srgbClr val="16202E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9" name="Shape 7"/>
          <p:cNvSpPr/>
          <p:nvPr/>
        </p:nvSpPr>
        <p:spPr>
          <a:xfrm>
            <a:off x="1515533" y="3651585"/>
            <a:ext cx="371210" cy="660400"/>
          </a:xfrm>
          <a:prstGeom prst="roundRect">
            <a:avLst>
              <a:gd name="adj" fmla="val 8553"/>
            </a:avLst>
          </a:prstGeom>
          <a:solidFill>
            <a:srgbClr val="E1009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0" name="Shape 8"/>
          <p:cNvSpPr/>
          <p:nvPr/>
        </p:nvSpPr>
        <p:spPr>
          <a:xfrm>
            <a:off x="1937544" y="3651585"/>
            <a:ext cx="371277" cy="660400"/>
          </a:xfrm>
          <a:prstGeom prst="roundRect">
            <a:avLst>
              <a:gd name="adj" fmla="val 8552"/>
            </a:avLst>
          </a:prstGeom>
          <a:solidFill>
            <a:srgbClr val="E1009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2359620" y="3651585"/>
            <a:ext cx="371210" cy="660400"/>
          </a:xfrm>
          <a:prstGeom prst="roundRect">
            <a:avLst>
              <a:gd name="adj" fmla="val 8553"/>
            </a:avLst>
          </a:prstGeom>
          <a:solidFill>
            <a:srgbClr val="E1009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2" name="Shape 10"/>
          <p:cNvSpPr/>
          <p:nvPr/>
        </p:nvSpPr>
        <p:spPr>
          <a:xfrm>
            <a:off x="2781631" y="3651585"/>
            <a:ext cx="371277" cy="660400"/>
          </a:xfrm>
          <a:prstGeom prst="roundRect">
            <a:avLst>
              <a:gd name="adj" fmla="val 8552"/>
            </a:avLst>
          </a:prstGeom>
          <a:solidFill>
            <a:srgbClr val="E1009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3203707" y="3651585"/>
            <a:ext cx="371277" cy="660400"/>
          </a:xfrm>
          <a:prstGeom prst="roundRect">
            <a:avLst>
              <a:gd name="adj" fmla="val 8552"/>
            </a:avLst>
          </a:prstGeom>
          <a:solidFill>
            <a:srgbClr val="E1009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4" name="Shape 12"/>
          <p:cNvSpPr/>
          <p:nvPr/>
        </p:nvSpPr>
        <p:spPr>
          <a:xfrm>
            <a:off x="3625784" y="3651585"/>
            <a:ext cx="371277" cy="660400"/>
          </a:xfrm>
          <a:prstGeom prst="roundRect">
            <a:avLst>
              <a:gd name="adj" fmla="val 8552"/>
            </a:avLst>
          </a:prstGeom>
          <a:solidFill>
            <a:srgbClr val="E1009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4047861" y="3651585"/>
            <a:ext cx="371277" cy="660400"/>
          </a:xfrm>
          <a:prstGeom prst="roundRect">
            <a:avLst>
              <a:gd name="adj" fmla="val 8552"/>
            </a:avLst>
          </a:prstGeom>
          <a:solidFill>
            <a:srgbClr val="E1009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6" name="Shape 14"/>
          <p:cNvSpPr/>
          <p:nvPr/>
        </p:nvSpPr>
        <p:spPr>
          <a:xfrm>
            <a:off x="4469937" y="3651585"/>
            <a:ext cx="371277" cy="660400"/>
          </a:xfrm>
          <a:prstGeom prst="roundRect">
            <a:avLst>
              <a:gd name="adj" fmla="val 8552"/>
            </a:avLst>
          </a:prstGeom>
          <a:solidFill>
            <a:srgbClr val="E1009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7" name="Shape 15"/>
          <p:cNvSpPr/>
          <p:nvPr/>
        </p:nvSpPr>
        <p:spPr>
          <a:xfrm>
            <a:off x="4892014" y="3651585"/>
            <a:ext cx="371277" cy="660400"/>
          </a:xfrm>
          <a:prstGeom prst="roundRect">
            <a:avLst>
              <a:gd name="adj" fmla="val 8552"/>
            </a:avLst>
          </a:prstGeom>
          <a:solidFill>
            <a:srgbClr val="E1009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8" name="Shape 16"/>
          <p:cNvSpPr/>
          <p:nvPr/>
        </p:nvSpPr>
        <p:spPr>
          <a:xfrm>
            <a:off x="5314090" y="3651585"/>
            <a:ext cx="371277" cy="660400"/>
          </a:xfrm>
          <a:prstGeom prst="roundRect">
            <a:avLst>
              <a:gd name="adj" fmla="val 8552"/>
            </a:avLst>
          </a:prstGeom>
          <a:solidFill>
            <a:srgbClr val="E10098"/>
          </a:solidFill>
          <a:ln/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1020233" y="4413585"/>
            <a:ext cx="4805087" cy="469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250" dirty="0">
                <a:solidFill>
                  <a:srgbClr val="5A6B7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 sombre : la requête qui charge la commande. En rose : une requête par ligne pour retrouver le produit.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00775" y="2441575"/>
            <a:ext cx="5175250" cy="1059392"/>
          </a:xfrm>
          <a:prstGeom prst="roundRect">
            <a:avLst>
              <a:gd name="adj" fmla="val 10490"/>
            </a:avLst>
          </a:prstGeom>
          <a:solidFill>
            <a:srgbClr val="FFFFFF"/>
          </a:solidFill>
          <a:ln w="6350">
            <a:solidFill>
              <a:srgbClr val="E2E7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Text 19"/>
          <p:cNvSpPr/>
          <p:nvPr/>
        </p:nvSpPr>
        <p:spPr>
          <a:xfrm>
            <a:off x="6379633" y="2595042"/>
            <a:ext cx="496205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6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 cause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379633" y="2887142"/>
            <a:ext cx="4962059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13"/>
              </a:lnSpc>
              <a:buNone/>
            </a:pPr>
            <a:r>
              <a:rPr lang="en-US" sz="1250" dirty="0">
                <a:solidFill>
                  <a:srgbClr val="5A6B7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 cascade de resolvers ignore que dix lignes pourraient être résolues ensemble.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6200775" y="3608921"/>
            <a:ext cx="5175250" cy="1059392"/>
          </a:xfrm>
          <a:prstGeom prst="roundRect">
            <a:avLst>
              <a:gd name="adj" fmla="val 10490"/>
            </a:avLst>
          </a:prstGeom>
          <a:solidFill>
            <a:srgbClr val="FFFFFF"/>
          </a:solidFill>
          <a:ln w="6350">
            <a:solidFill>
              <a:srgbClr val="E2E7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6379633" y="3762375"/>
            <a:ext cx="496205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6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 parade : DataLoader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379633" y="4054475"/>
            <a:ext cx="4962059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13"/>
              </a:lnSpc>
              <a:buNone/>
            </a:pPr>
            <a:r>
              <a:rPr lang="en-US" sz="1250" dirty="0">
                <a:solidFill>
                  <a:srgbClr val="5A6B7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Les identifiants sont mis en file, puis groupés en </a:t>
            </a:r>
            <a:r>
              <a:rPr lang="en-US" sz="1250" b="1" dirty="0">
                <a:solidFill>
                  <a:srgbClr val="5A6B7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une seule</a:t>
            </a:r>
            <a:r>
              <a:rPr lang="en-US" sz="1250" dirty="0">
                <a:solidFill>
                  <a:srgbClr val="5A6B7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requête : 11 deviennent 2.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200775" y="4776267"/>
            <a:ext cx="5175250" cy="1059392"/>
          </a:xfrm>
          <a:prstGeom prst="roundRect">
            <a:avLst>
              <a:gd name="adj" fmla="val 10490"/>
            </a:avLst>
          </a:prstGeom>
          <a:solidFill>
            <a:srgbClr val="FFFFFF"/>
          </a:solidFill>
          <a:ln w="6350">
            <a:solidFill>
              <a:srgbClr val="E2E7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/>
          <p:cNvSpPr/>
          <p:nvPr/>
        </p:nvSpPr>
        <p:spPr>
          <a:xfrm>
            <a:off x="6379633" y="4929721"/>
            <a:ext cx="4962059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6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À faire dans le TP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6379633" y="5221821"/>
            <a:ext cx="4962059" cy="485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13"/>
              </a:lnSpc>
              <a:buNone/>
            </a:pPr>
            <a:r>
              <a:rPr lang="en-US" sz="1250" dirty="0">
                <a:solidFill>
                  <a:srgbClr val="5A6B7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Bonus de l'exercice 3 : comptez avec un console.log, branchez DataLoader, recomptez.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A6B7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04 · Le recul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00" dirty="0">
                <a:solidFill>
                  <a:srgbClr val="E1009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04 · LE RECUL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800" y="1297918"/>
            <a:ext cx="10883392" cy="500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40"/>
              </a:lnSpc>
              <a:buNone/>
            </a:pPr>
            <a:r>
              <a:rPr lang="en-US" sz="3400" b="1" dirty="0">
                <a:solidFill>
                  <a:srgbClr val="16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Alors, REST ou GraphQL ?</a:t>
            </a:r>
            <a:endParaRPr lang="en-US" sz="3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2026841"/>
          <a:ext cx="10566400" cy="2701727"/>
        </p:xfrm>
        <a:graphic>
          <a:graphicData uri="http://schemas.openxmlformats.org/drawingml/2006/table">
            <a:tbl>
              <a:tblPr/>
              <a:tblGrid>
                <a:gridCol w="69738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925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596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6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Votre situation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6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Le choix raisonnable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96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Écrans aux besoins variés (web + mobile)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E1009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GraphQL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596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Données très liées, navigation en profondeur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E1009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GraphQL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596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Beaucoup de clients différents sur un même contrat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E1009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GraphQL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596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API publique simple, fortement cachée par un CDN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C6E8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REST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596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Upload et téléchargement de fichiers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C6E8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REST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5961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6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Microservice interne à deux endpoints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C6E8C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REST</a:t>
                      </a:r>
                      <a:endParaRPr lang="en-US" sz="14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2230" marR="62230" marT="62230" marB="62230">
                    <a:lnL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5202709"/>
            <a:ext cx="10883392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75"/>
              </a:lnSpc>
              <a:buNone/>
            </a:pPr>
            <a:r>
              <a:rPr lang="en-US" sz="1500" dirty="0">
                <a:solidFill>
                  <a:srgbClr val="16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Les deux cohabitent très bien : beaucoup d'équipes exposent une passerelle GraphQL devant des services REST existants.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A6B7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04 · Le recul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00" dirty="0">
                <a:solidFill>
                  <a:srgbClr val="E1009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POUR LE TP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800" y="1297918"/>
            <a:ext cx="10883392" cy="500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40"/>
              </a:lnSpc>
              <a:buNone/>
            </a:pPr>
            <a:r>
              <a:rPr lang="en-US" sz="3400" b="1" dirty="0">
                <a:solidFill>
                  <a:srgbClr val="16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Apollo Sandbox, votre terrain de jeu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15975" y="2030016"/>
            <a:ext cx="2511425" cy="2083594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6350">
            <a:solidFill>
              <a:srgbClr val="E2E7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994833" y="2196182"/>
            <a:ext cx="221832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1009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994833" y="2490788"/>
            <a:ext cx="2218320" cy="497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550" b="1" dirty="0">
                <a:solidFill>
                  <a:srgbClr val="16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 panneau Documentation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994833" y="3026705"/>
            <a:ext cx="2218320" cy="946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13"/>
              </a:lnSpc>
              <a:buNone/>
            </a:pPr>
            <a:r>
              <a:rPr lang="en-US" sz="1250" dirty="0">
                <a:solidFill>
                  <a:srgbClr val="5A6B7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Généré depuis votre schéma. Cliquez sur un type pour voir ses champs. C'est votre première source de vérité.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498850" y="2030016"/>
            <a:ext cx="2511425" cy="2083594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6350">
            <a:solidFill>
              <a:srgbClr val="E2E7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3677708" y="2196182"/>
            <a:ext cx="221832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1009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77708" y="2490788"/>
            <a:ext cx="2218320" cy="2616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550" b="1" dirty="0">
                <a:solidFill>
                  <a:srgbClr val="16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L'autocomplétion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3677708" y="2790503"/>
            <a:ext cx="2218320" cy="946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13"/>
              </a:lnSpc>
              <a:buNone/>
            </a:pPr>
            <a:r>
              <a:rPr lang="en-US" sz="1250" dirty="0">
                <a:solidFill>
                  <a:srgbClr val="5A6B7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Ctrl + Espace propose les champs valides à cet endroit. Si un champ n'apparaît pas, il n'existe pas dans le schéma.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81725" y="2030016"/>
            <a:ext cx="2511425" cy="2083594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6350">
            <a:solidFill>
              <a:srgbClr val="E2E7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6360583" y="2196182"/>
            <a:ext cx="221832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1009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360583" y="2490788"/>
            <a:ext cx="2218320" cy="2616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550" b="1" dirty="0">
                <a:solidFill>
                  <a:srgbClr val="16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 panneau Variables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360583" y="2790503"/>
            <a:ext cx="2218320" cy="946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13"/>
              </a:lnSpc>
              <a:buNone/>
            </a:pPr>
            <a:r>
              <a:rPr lang="en-US" sz="1250" dirty="0">
                <a:solidFill>
                  <a:srgbClr val="5A6B7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 bas à gauche, au format JSON. À utiliser dès l'exercice 2 plutôt que d'écrire les valeurs en dur.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8864600" y="2030016"/>
            <a:ext cx="2511425" cy="2083594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6350">
            <a:solidFill>
              <a:srgbClr val="E2E7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9043459" y="2196182"/>
            <a:ext cx="2218320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1009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043459" y="2490788"/>
            <a:ext cx="2218320" cy="2616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550" b="1" dirty="0">
                <a:solidFill>
                  <a:srgbClr val="16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Les en-têtes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9043459" y="2790503"/>
            <a:ext cx="2218320" cy="946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13"/>
              </a:lnSpc>
              <a:buNone/>
            </a:pPr>
            <a:r>
              <a:rPr lang="en-US" sz="1250" dirty="0">
                <a:solidFill>
                  <a:srgbClr val="5A6B7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Pour envoyer votre jeton JWT à partir de l'exercice 5 : Authorization, Bearer, puis le token.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12800" y="4370784"/>
            <a:ext cx="10883392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75"/>
              </a:lnSpc>
              <a:buNone/>
            </a:pPr>
            <a:r>
              <a:rPr lang="en-US" sz="1500" dirty="0">
                <a:solidFill>
                  <a:srgbClr val="16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L'interface s'ouvre sur http://localhost:4000 dès que le serveur démarre. Si elle ne s'affiche pas, le serveur n'a pas démarré : lisez la console.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A6B7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Pour le TP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620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00" dirty="0">
                <a:solidFill>
                  <a:srgbClr val="E1009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VÉRIFICATION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800" y="1297918"/>
            <a:ext cx="10883392" cy="500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40"/>
              </a:lnSpc>
              <a:buNone/>
            </a:pPr>
            <a:r>
              <a:rPr lang="en-US" sz="3400" b="1" dirty="0">
                <a:solidFill>
                  <a:srgbClr val="F2F5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Trois questions avant de commencer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15975" y="2098675"/>
            <a:ext cx="3219450" cy="1385755"/>
          </a:xfrm>
          <a:prstGeom prst="roundRect">
            <a:avLst>
              <a:gd name="adj" fmla="val 7103"/>
            </a:avLst>
          </a:prstGeom>
          <a:solidFill>
            <a:srgbClr val="1F2D3F"/>
          </a:solidFill>
          <a:ln w="6350">
            <a:solidFill>
              <a:srgbClr val="3347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1007533" y="2290242"/>
            <a:ext cx="2921423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1009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7533" y="2521347"/>
            <a:ext cx="2921423" cy="7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F2F5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Que renvoie l'API si vous demandez un champ absent du schéma 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283075" y="2098675"/>
            <a:ext cx="3219450" cy="1128580"/>
          </a:xfrm>
          <a:prstGeom prst="roundRect">
            <a:avLst>
              <a:gd name="adj" fmla="val 8721"/>
            </a:avLst>
          </a:prstGeom>
          <a:solidFill>
            <a:srgbClr val="1F2D3F"/>
          </a:solidFill>
          <a:ln w="6350">
            <a:solidFill>
              <a:srgbClr val="3347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4474633" y="2290242"/>
            <a:ext cx="2921423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1009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474633" y="2521347"/>
            <a:ext cx="2921423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F2F5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Comment lit-on le type </a:t>
            </a:r>
            <a:r>
              <a:rPr lang="en-US" sz="1500" b="1" dirty="0">
                <a:solidFill>
                  <a:srgbClr val="F2F5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[Product!]!</a:t>
            </a:r>
            <a:r>
              <a:rPr lang="en-US" sz="1500" dirty="0">
                <a:solidFill>
                  <a:srgbClr val="F2F5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?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7750175" y="2098675"/>
            <a:ext cx="3219450" cy="1128580"/>
          </a:xfrm>
          <a:prstGeom prst="roundRect">
            <a:avLst>
              <a:gd name="adj" fmla="val 8721"/>
            </a:avLst>
          </a:prstGeom>
          <a:solidFill>
            <a:srgbClr val="1F2D3F"/>
          </a:solidFill>
          <a:ln w="6350">
            <a:solidFill>
              <a:srgbClr val="3347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7941734" y="2290242"/>
            <a:ext cx="2921423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1009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941734" y="2521347"/>
            <a:ext cx="2921423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F2F5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Pourquoi une requête imbriquée peut-elle être lente ?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FB2C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Les réponses apparaissent une par une en mode présentation.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620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00" dirty="0">
                <a:solidFill>
                  <a:srgbClr val="E1009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VÉRIFICATION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800" y="1297918"/>
            <a:ext cx="10883392" cy="500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40"/>
              </a:lnSpc>
              <a:buNone/>
            </a:pPr>
            <a:r>
              <a:rPr lang="en-US" sz="3400" b="1" dirty="0">
                <a:solidFill>
                  <a:srgbClr val="F2F5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Trois questions avant de commencer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15975" y="2098675"/>
            <a:ext cx="3219450" cy="1385755"/>
          </a:xfrm>
          <a:prstGeom prst="roundRect">
            <a:avLst>
              <a:gd name="adj" fmla="val 7103"/>
            </a:avLst>
          </a:prstGeom>
          <a:solidFill>
            <a:srgbClr val="1F2D3F"/>
          </a:solidFill>
          <a:ln w="6350">
            <a:solidFill>
              <a:srgbClr val="3347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1007533" y="2290242"/>
            <a:ext cx="2921423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1009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7533" y="2521347"/>
            <a:ext cx="2921423" cy="7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F2F5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Que renvoie l'API si vous demandez un champ absent du schéma 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15975" y="3940175"/>
            <a:ext cx="3219450" cy="1343157"/>
          </a:xfrm>
          <a:prstGeom prst="roundRect">
            <a:avLst>
              <a:gd name="adj" fmla="val 7328"/>
            </a:avLst>
          </a:prstGeom>
          <a:solidFill>
            <a:srgbClr val="2A1A2A"/>
          </a:solidFill>
          <a:ln w="6350">
            <a:solidFill>
              <a:srgbClr val="E1009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1007533" y="4131742"/>
            <a:ext cx="292142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E1009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RÉPONSE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7533" y="4345062"/>
            <a:ext cx="2921423" cy="77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2F5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Une erreur de validation, avant toute exécution. Le serveur ne touche jamais MongoDB.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283075" y="2098675"/>
            <a:ext cx="3219450" cy="1128580"/>
          </a:xfrm>
          <a:prstGeom prst="roundRect">
            <a:avLst>
              <a:gd name="adj" fmla="val 8721"/>
            </a:avLst>
          </a:prstGeom>
          <a:solidFill>
            <a:srgbClr val="1F2D3F"/>
          </a:solidFill>
          <a:ln w="6350">
            <a:solidFill>
              <a:srgbClr val="3347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4474633" y="2290242"/>
            <a:ext cx="2921423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1009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474633" y="2521347"/>
            <a:ext cx="2921423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F2F5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Comment lit-on le type </a:t>
            </a:r>
            <a:r>
              <a:rPr lang="en-US" sz="1500" b="1" dirty="0">
                <a:solidFill>
                  <a:srgbClr val="F2F5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[Product!]!</a:t>
            </a:r>
            <a:r>
              <a:rPr lang="en-US" sz="1500" dirty="0">
                <a:solidFill>
                  <a:srgbClr val="F2F5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?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750175" y="2098675"/>
            <a:ext cx="3219450" cy="1128580"/>
          </a:xfrm>
          <a:prstGeom prst="roundRect">
            <a:avLst>
              <a:gd name="adj" fmla="val 8721"/>
            </a:avLst>
          </a:prstGeom>
          <a:solidFill>
            <a:srgbClr val="1F2D3F"/>
          </a:solidFill>
          <a:ln w="6350">
            <a:solidFill>
              <a:srgbClr val="3347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7941734" y="2290242"/>
            <a:ext cx="2921423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1009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941734" y="2521347"/>
            <a:ext cx="2921423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F2F5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Pourquoi une requête imbriquée peut-elle être lente ?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FB2C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Les réponses apparaissent une par une en mode présentation.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620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00" dirty="0">
                <a:solidFill>
                  <a:srgbClr val="E1009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VÉRIFICATION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800" y="1297918"/>
            <a:ext cx="10883392" cy="500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40"/>
              </a:lnSpc>
              <a:buNone/>
            </a:pPr>
            <a:r>
              <a:rPr lang="en-US" sz="3400" b="1" dirty="0">
                <a:solidFill>
                  <a:srgbClr val="F2F5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Trois questions avant de commencer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15975" y="2098675"/>
            <a:ext cx="3219450" cy="1385755"/>
          </a:xfrm>
          <a:prstGeom prst="roundRect">
            <a:avLst>
              <a:gd name="adj" fmla="val 7103"/>
            </a:avLst>
          </a:prstGeom>
          <a:solidFill>
            <a:srgbClr val="1F2D3F"/>
          </a:solidFill>
          <a:ln w="6350">
            <a:solidFill>
              <a:srgbClr val="3347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1007533" y="2290242"/>
            <a:ext cx="2921423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1009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7533" y="2521347"/>
            <a:ext cx="2921423" cy="7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F2F5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Que renvoie l'API si vous demandez un champ absent du schéma 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15975" y="3940175"/>
            <a:ext cx="3219450" cy="1343157"/>
          </a:xfrm>
          <a:prstGeom prst="roundRect">
            <a:avLst>
              <a:gd name="adj" fmla="val 7328"/>
            </a:avLst>
          </a:prstGeom>
          <a:solidFill>
            <a:srgbClr val="2A1A2A"/>
          </a:solidFill>
          <a:ln w="6350">
            <a:solidFill>
              <a:srgbClr val="E1009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1007533" y="4131742"/>
            <a:ext cx="292142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E1009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RÉPONSE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7533" y="4345062"/>
            <a:ext cx="2921423" cy="77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2F5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Une erreur de validation, avant toute exécution. Le serveur ne touche jamais MongoDB.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283075" y="2098675"/>
            <a:ext cx="3219450" cy="1128580"/>
          </a:xfrm>
          <a:prstGeom prst="roundRect">
            <a:avLst>
              <a:gd name="adj" fmla="val 8721"/>
            </a:avLst>
          </a:prstGeom>
          <a:solidFill>
            <a:srgbClr val="1F2D3F"/>
          </a:solidFill>
          <a:ln w="6350">
            <a:solidFill>
              <a:srgbClr val="3347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4474633" y="2290242"/>
            <a:ext cx="2921423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1009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474633" y="2521347"/>
            <a:ext cx="2921423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F2F5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Comment lit-on le type </a:t>
            </a:r>
            <a:r>
              <a:rPr lang="en-US" sz="1500" b="1" dirty="0">
                <a:solidFill>
                  <a:srgbClr val="F2F5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[Product!]!</a:t>
            </a:r>
            <a:r>
              <a:rPr lang="en-US" sz="1500" dirty="0">
                <a:solidFill>
                  <a:srgbClr val="F2F5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?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283075" y="3940175"/>
            <a:ext cx="3219450" cy="1343157"/>
          </a:xfrm>
          <a:prstGeom prst="roundRect">
            <a:avLst>
              <a:gd name="adj" fmla="val 7328"/>
            </a:avLst>
          </a:prstGeom>
          <a:solidFill>
            <a:srgbClr val="2A1A2A"/>
          </a:solidFill>
          <a:ln w="6350">
            <a:solidFill>
              <a:srgbClr val="E1009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4474633" y="4131742"/>
            <a:ext cx="292142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E1009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RÉPONSE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474633" y="4345062"/>
            <a:ext cx="2921423" cy="77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2F5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Une liste obligatoire, qui peut être vide, et dont aucun élément ne vaut null.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750175" y="2098675"/>
            <a:ext cx="3219450" cy="1128580"/>
          </a:xfrm>
          <a:prstGeom prst="roundRect">
            <a:avLst>
              <a:gd name="adj" fmla="val 8721"/>
            </a:avLst>
          </a:prstGeom>
          <a:solidFill>
            <a:srgbClr val="1F2D3F"/>
          </a:solidFill>
          <a:ln w="6350">
            <a:solidFill>
              <a:srgbClr val="3347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7941734" y="2290242"/>
            <a:ext cx="2921423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1009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941734" y="2521347"/>
            <a:ext cx="2921423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F2F5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Pourquoi une requête imbriquée peut-elle être lente ?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FB2C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Les réponses apparaissent une par une en mode présentation.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620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00" dirty="0">
                <a:solidFill>
                  <a:srgbClr val="E1009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VÉRIFICATION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800" y="1297918"/>
            <a:ext cx="10883392" cy="500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40"/>
              </a:lnSpc>
              <a:buNone/>
            </a:pPr>
            <a:r>
              <a:rPr lang="en-US" sz="3400" b="1" dirty="0">
                <a:solidFill>
                  <a:srgbClr val="F2F5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Trois questions avant de commencer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15975" y="2098675"/>
            <a:ext cx="3219450" cy="1385755"/>
          </a:xfrm>
          <a:prstGeom prst="roundRect">
            <a:avLst>
              <a:gd name="adj" fmla="val 7103"/>
            </a:avLst>
          </a:prstGeom>
          <a:solidFill>
            <a:srgbClr val="1F2D3F"/>
          </a:solidFill>
          <a:ln w="6350">
            <a:solidFill>
              <a:srgbClr val="3347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1007533" y="2290242"/>
            <a:ext cx="2921423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1009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07533" y="2521347"/>
            <a:ext cx="2921423" cy="796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F2F5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Que renvoie l'API si vous demandez un champ absent du schéma 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15975" y="3940175"/>
            <a:ext cx="3219450" cy="1343157"/>
          </a:xfrm>
          <a:prstGeom prst="roundRect">
            <a:avLst>
              <a:gd name="adj" fmla="val 7328"/>
            </a:avLst>
          </a:prstGeom>
          <a:solidFill>
            <a:srgbClr val="2A1A2A"/>
          </a:solidFill>
          <a:ln w="6350">
            <a:solidFill>
              <a:srgbClr val="E1009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1007533" y="4131742"/>
            <a:ext cx="292142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E1009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RÉPONSE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7533" y="4345062"/>
            <a:ext cx="2921423" cy="77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2F5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Une erreur de validation, avant toute exécution. Le serveur ne touche jamais MongoDB.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283075" y="2098675"/>
            <a:ext cx="3219450" cy="1128580"/>
          </a:xfrm>
          <a:prstGeom prst="roundRect">
            <a:avLst>
              <a:gd name="adj" fmla="val 8721"/>
            </a:avLst>
          </a:prstGeom>
          <a:solidFill>
            <a:srgbClr val="1F2D3F"/>
          </a:solidFill>
          <a:ln w="6350">
            <a:solidFill>
              <a:srgbClr val="3347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4474633" y="2290242"/>
            <a:ext cx="2921423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1009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474633" y="2521347"/>
            <a:ext cx="2921423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F2F5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Comment lit-on le type </a:t>
            </a:r>
            <a:r>
              <a:rPr lang="en-US" sz="1500" b="1" dirty="0">
                <a:solidFill>
                  <a:srgbClr val="F2F5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[Product!]!</a:t>
            </a:r>
            <a:r>
              <a:rPr lang="en-US" sz="1500" dirty="0">
                <a:solidFill>
                  <a:srgbClr val="F2F5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 ?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283075" y="3940175"/>
            <a:ext cx="3219450" cy="1343157"/>
          </a:xfrm>
          <a:prstGeom prst="roundRect">
            <a:avLst>
              <a:gd name="adj" fmla="val 7328"/>
            </a:avLst>
          </a:prstGeom>
          <a:solidFill>
            <a:srgbClr val="2A1A2A"/>
          </a:solidFill>
          <a:ln w="6350">
            <a:solidFill>
              <a:srgbClr val="E1009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4474633" y="4131742"/>
            <a:ext cx="292142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E1009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RÉPONSE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474633" y="4345062"/>
            <a:ext cx="2921423" cy="77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2F5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Une liste obligatoire, qui peut être vide, et dont aucun élément ne vaut null.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750175" y="2098675"/>
            <a:ext cx="3219450" cy="1128580"/>
          </a:xfrm>
          <a:prstGeom prst="roundRect">
            <a:avLst>
              <a:gd name="adj" fmla="val 8721"/>
            </a:avLst>
          </a:prstGeom>
          <a:solidFill>
            <a:srgbClr val="1F2D3F"/>
          </a:solidFill>
          <a:ln w="6350">
            <a:solidFill>
              <a:srgbClr val="33475E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7941734" y="2290242"/>
            <a:ext cx="2921423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E1009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941734" y="2521347"/>
            <a:ext cx="2921423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F2F5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Pourquoi une requête imbriquée peut-elle être lente ?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7750175" y="3940175"/>
            <a:ext cx="3219450" cy="1343157"/>
          </a:xfrm>
          <a:prstGeom prst="roundRect">
            <a:avLst>
              <a:gd name="adj" fmla="val 7328"/>
            </a:avLst>
          </a:prstGeom>
          <a:solidFill>
            <a:srgbClr val="2A1A2A"/>
          </a:solidFill>
          <a:ln w="6350">
            <a:solidFill>
              <a:srgbClr val="E1009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7941734" y="4131742"/>
            <a:ext cx="292142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100" dirty="0">
                <a:solidFill>
                  <a:srgbClr val="E1009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RÉPONSE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7941734" y="4345062"/>
            <a:ext cx="2921423" cy="77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2F5F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À cause du N+1 : un resolver par champ et par élément. La parade est DataLoader.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FB2C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Les réponses apparaissent une par une en mode présentation.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00" dirty="0">
                <a:solidFill>
                  <a:srgbClr val="E1009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POUR LE TP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800" y="1297918"/>
            <a:ext cx="10883392" cy="500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40"/>
              </a:lnSpc>
              <a:buNone/>
            </a:pPr>
            <a:r>
              <a:rPr lang="en-US" sz="3400" b="1" dirty="0">
                <a:solidFill>
                  <a:srgbClr val="16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Ce que vous allez construire</a:t>
            </a:r>
            <a:endParaRPr lang="en-US" sz="3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800" y="2026841"/>
          <a:ext cx="10566400" cy="2235996"/>
        </p:xfrm>
        <a:graphic>
          <a:graphicData uri="http://schemas.openxmlformats.org/drawingml/2006/table">
            <a:tbl>
              <a:tblPr/>
              <a:tblGrid>
                <a:gridCol w="1056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925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1718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2666"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16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N°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16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Exercice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b="1" dirty="0">
                          <a:solidFill>
                            <a:srgbClr val="16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Au programme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2666"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E1009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6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Le catalogue produits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5A6B7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Schéma, type Product, deux queries de lecture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2666"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E1009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6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Mutations CRUD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5A6B7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createProduct, updateProduct, deleteProduct et leurs validations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2666"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E1009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6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Clients et commandes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5A6B7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Types liés, resolvers de champs, décrément du stock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2666"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E1009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6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Filtres et pagination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5A6B7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Arguments, enums, traduction vers les requêtes MongoDB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2666"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E10098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16202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Agrégation, auth, temps réel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890"/>
                        </a:lnSpc>
                        <a:buNone/>
                      </a:pPr>
                      <a:r>
                        <a:rPr lang="en-US" sz="1350" dirty="0">
                          <a:solidFill>
                            <a:srgbClr val="5A6B7E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Statistiques de ventes, JWT et rôles, subscriptions</a:t>
                      </a:r>
                      <a:endParaRPr lang="en-US" sz="13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60007" marR="60007" marT="60007" marB="60007">
                    <a:lnL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B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4736976"/>
            <a:ext cx="10883392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75"/>
              </a:lnSpc>
              <a:buNone/>
            </a:pPr>
            <a:r>
              <a:rPr lang="en-US" sz="1500" dirty="0">
                <a:solidFill>
                  <a:srgbClr val="16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 seul projet qui grossit à chaque séance, un commit Git par exercice. Ne repartez jamais de zéro.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A6B7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Pour le TP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BFB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812800"/>
            <a:ext cx="10883392" cy="2565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kern="0" spc="100" dirty="0">
                <a:solidFill>
                  <a:srgbClr val="E10098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AVANT LA SÉANCE DE TP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12800" y="1770000"/>
            <a:ext cx="10883392" cy="5003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40"/>
              </a:lnSpc>
              <a:buNone/>
            </a:pPr>
            <a:r>
              <a:rPr lang="en-US" sz="3400" b="1" dirty="0">
                <a:solidFill>
                  <a:srgbClr val="16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Votre liste de contrôle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815975" y="2974181"/>
            <a:ext cx="5395383" cy="2864644"/>
          </a:xfrm>
          <a:prstGeom prst="roundRect">
            <a:avLst>
              <a:gd name="adj" fmla="val 3879"/>
            </a:avLst>
          </a:prstGeom>
          <a:solidFill>
            <a:srgbClr val="FFFFFF"/>
          </a:solidFill>
          <a:ln w="6350">
            <a:solidFill>
              <a:srgbClr val="E2E7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1058333" y="3191148"/>
            <a:ext cx="5057987" cy="154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16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Node.js 20 ou plus, et MongoDB en local ou sur Atlas</a:t>
            </a:r>
            <a:endParaRPr lang="en-US" sz="1500" dirty="0"/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16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 projet créé avec @apollo/server, graphql, mongoose et dotenv</a:t>
            </a:r>
            <a:endParaRPr lang="en-US" sz="1500" dirty="0"/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16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Apollo Sandbox qui s'ouvre sur http://localhost:4000</a:t>
            </a:r>
            <a:endParaRPr lang="en-US" sz="1500" dirty="0"/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00" dirty="0">
                <a:solidFill>
                  <a:srgbClr val="16202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Un dépôt Git initialisé, prêt pour le premier commit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71708" y="2974181"/>
            <a:ext cx="4904317" cy="865981"/>
          </a:xfrm>
          <a:prstGeom prst="roundRect">
            <a:avLst>
              <a:gd name="adj" fmla="val 11366"/>
            </a:avLst>
          </a:prstGeom>
          <a:solidFill>
            <a:srgbClr val="FFFFFF"/>
          </a:solidFill>
          <a:ln w="6350">
            <a:solidFill>
              <a:srgbClr val="E2E7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6650567" y="3140348"/>
            <a:ext cx="4682998" cy="26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1C6E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graphql.org/learn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650567" y="3443821"/>
            <a:ext cx="4682998" cy="255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13"/>
              </a:lnSpc>
              <a:buNone/>
            </a:pPr>
            <a:r>
              <a:rPr lang="en-US" sz="1250" dirty="0">
                <a:solidFill>
                  <a:srgbClr val="5A6B7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 tutoriel officiel, court et bien fait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71708" y="3973512"/>
            <a:ext cx="4904317" cy="865981"/>
          </a:xfrm>
          <a:prstGeom prst="roundRect">
            <a:avLst>
              <a:gd name="adj" fmla="val 11366"/>
            </a:avLst>
          </a:prstGeom>
          <a:solidFill>
            <a:srgbClr val="FFFFFF"/>
          </a:solidFill>
          <a:ln w="6350">
            <a:solidFill>
              <a:srgbClr val="E2E7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0" name="Text 8"/>
          <p:cNvSpPr/>
          <p:nvPr/>
        </p:nvSpPr>
        <p:spPr>
          <a:xfrm>
            <a:off x="6650567" y="4139679"/>
            <a:ext cx="4682998" cy="26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1C6E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apollographql.com/docs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6650567" y="4443152"/>
            <a:ext cx="4682998" cy="255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13"/>
              </a:lnSpc>
              <a:buNone/>
            </a:pPr>
            <a:r>
              <a:rPr lang="en-US" sz="1250" dirty="0">
                <a:solidFill>
                  <a:srgbClr val="5A6B7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Apollo Server 5 : contexte, erreurs, subscriptions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71708" y="4972844"/>
            <a:ext cx="4904317" cy="865981"/>
          </a:xfrm>
          <a:prstGeom prst="roundRect">
            <a:avLst>
              <a:gd name="adj" fmla="val 11366"/>
            </a:avLst>
          </a:prstGeom>
          <a:solidFill>
            <a:srgbClr val="FFFFFF"/>
          </a:solidFill>
          <a:ln w="6350">
            <a:solidFill>
              <a:srgbClr val="E2E7E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6650567" y="5139010"/>
            <a:ext cx="4682998" cy="2653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350" b="1" dirty="0">
                <a:solidFill>
                  <a:srgbClr val="1C6E8C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mongoosejs.com/docs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650567" y="5442483"/>
            <a:ext cx="4682998" cy="255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13"/>
              </a:lnSpc>
              <a:buNone/>
            </a:pPr>
            <a:r>
              <a:rPr lang="en-US" sz="1250" dirty="0">
                <a:solidFill>
                  <a:srgbClr val="5A6B7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Modèles, références et agrégation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12800" y="62382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A6B7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Bon courage.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3667</Words>
  <Application>Microsoft Office PowerPoint</Application>
  <PresentationFormat>Grand écran</PresentationFormat>
  <Paragraphs>480</Paragraphs>
  <Slides>28</Slides>
  <Notes>28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28</vt:i4>
      </vt:variant>
    </vt:vector>
  </HeadingPairs>
  <TitlesOfParts>
    <vt:vector size="32" baseType="lpstr">
      <vt:lpstr>Arial</vt:lpstr>
      <vt:lpstr>IBM Plex Sans</vt:lpstr>
      <vt:lpstr>JetBrains Mono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à GraphQL — Cours</dc:title>
  <dc:subject>PptxGenJS Presentation</dc:subject>
  <dc:creator>PptxGenJS</dc:creator>
  <cp:lastModifiedBy>Chléo HINN</cp:lastModifiedBy>
  <cp:revision>1</cp:revision>
  <dcterms:created xsi:type="dcterms:W3CDTF">2026-09-22T10:07:42Z</dcterms:created>
  <dcterms:modified xsi:type="dcterms:W3CDTF">2026-09-22T10:09:21Z</dcterms:modified>
</cp:coreProperties>
</file>